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NFgUPqqp+rYhg1hj4+NBaYymD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안녕하십니까 지금부터 자타호 프로젝트 설명을 시작하겠습니다.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목차는 1~6(ppt에 있는 목차 육성으로 빠르게) 설명하도록 하겠습니다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팀 구성은 3명이고 팀장은 김호성 팀원들은 임연수,신재원 팀원들 이있습니다 </a:t>
            </a: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저희의 프로젝트의 주된 주제는 자전거를  같이 타면서 해당 그룹을 관리 하느냐의 관점을 두고 이야기가 시작되었습니다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//또한 개인이 경로을 만들어 공유며 즐기는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기존앱 들이 제공하는 서비스가 딱딱하고 정적 이었다는 걸 느꼈고 좀더 사람들과 교류가 가능한 생태계의 앱/웹사이트를 만들기로 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기존앱 에서는 출발/목적지로의 결과만 보여주고 같이 타는 과정을 즐기기에는 부족하다고 느끼고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또한 자동차도로의 중심의 도로로만 보여줍니다 이로 인하여 위험함 상황이 생길 수 도 있다고 생각했습니다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저희가 생각하고 실현할 앱/웹사이트는 자전거도로 중심으로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같이 타고 즐기는 과정의 집중하였습니다  개발을 시작했습니다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  </a:t>
            </a: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[[발표 대사]]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저는 자전거를 단순한 교통수단으로만 탄 사람이 였습니다 </a:t>
            </a:r>
            <a:b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점점 자전거를 타보니 사람들과 혹은 개인으로 자전거를 교통수단이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아닌 취향, 재미를 위해 타는 사람들도 있고 저도 그리 느꼈습니다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 저는 개인과 그룹 혹은 개인과 개인이 만나서 자전거를 같이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 쉅게 자전거 중심의 탈만한 환경이 조성될 수 있는 앱 플랩폼,웹페이지구상 했고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*대상은 취미로 자전거를 즐기는 동호회,그룹,개인 입니다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*목적은 라이딩 동반자 및 모임을 쉅게 연결하고 출발에서 목적지만 알고 출발하는 일회성 라이딩이 아닌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그 과정을 즐길 수 있게 경험으로 만드는 서비스을 제공 하고 싶습니다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*웹/웹 플랫폼으로 제작할 여정입니다 자세한 설명은 ((</a:t>
            </a:r>
            <a:r>
              <a:rPr lang="ko-KR" sz="1200"/>
              <a:t>5.서버 및 개발 환경 정의)) 에서 설명하겠습니다</a:t>
            </a: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*가치 자전거를 교통수단에서 라이프스타일로 확장 및 자신의 유용한 경로를 공유함으로써 하나의 라이더 정보 교류를 할 수 있습니다 </a:t>
            </a: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[[발표 대사]]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다음으로는 기능 요구 상황을 설명 하겠습니다 앞서 목차를 보시면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(ppt 내용)등 이있습니다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[[발표 대사]]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게시글 생성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기능은 자신이 생성한 경로를 인스타 느낌으로 만든 게시물을 올리는 것입니다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해당 지도를 누르면 지도 탭으로 넘어가 다른 사용자가 만든 경로를 비추어 줍니다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해당 라이딩 과정을 남길 수 있도록 추가로 사진을 업로드 할 수 있도록 추가할 예정 입니다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추가적으로 해당 게시물에 댓글과 좋아요을 확인하여 실시간으로 해당 게시물의 반응을 볼 수 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기술 구현으로는 해당 게시물 경로 지도를 불려와서 띄우면 카카오지도API 토큰을 사용하게 되어 사진으로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대체하고 링크를 걸어서 불려오는 형식으로 만듭니다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게시물 로딩 하는 현상도 줄일 수 있습니다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[[발표 대사]]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경로만들기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카카오 API 지도위에 자신이 직접 경로를 만들어 만들 수 있게 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점으로 시작해서 다음 도로위치에 점을 찍으면 선으로 이어 집니다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활용 예시로 그룹 팀장이 다음 경로지 생성한 다음 그룹 단체채팅에 올려 직관적으로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팀원들 에게 보여줄 수 있다는 점이 있습니다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비기능은 클라이언트에서 사용자가 경로 만들기로 저장한 경로을 데이터 베이스저장해서 모 와두고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프로필에 히스토리를 만들어서 경로 기록합니다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그리고 자전거 도로를 on/off를 할 수 있게 +목록에 인터페이스를 제공하고 불투명 조절하여 ~ 확보 합니다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사용자가 자전거 도로에 들어맞게 추가 할 수 있도록 설정 합니다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자전거 도로를 off하면 자전거 도로 틀에서 벗어나게 만들 수 있게 유동적으로 할 수 있게 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[[발표 대사]]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범위 설정 후 실시간 매칭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경로 만들기 지도에 +목록에서 실행 시킬 수 있는 기능입니다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개인과 그룹으로 나뉘어 져있습니다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그룹과 함께하면 관리하기가 어렵습니다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선두와 후발 라이더와 거리 차이가 나면 위치 파악도 어렵고 초보가 중 상급 그룹혹은 동호회에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들어가게 되면 체력이 안되어서 낙오 되는 경우도 있습니다 이를 한눈에 파악하기 위해서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각각의 인원들과 팀장 실시간으로 지도위에 표시하고 팀장의 범위 밖에 나간 팀원이 발생한다면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팀장에게 알람이 전송되어 상황을 바로 알 수 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개인 라이더 위치 표시는 사용자가 같이 라이딩 할 사람을 번개만남 처럼 만날 수 있는 서비스입니다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사용자 혹은 다른 사용자가 위치를 켜 범위 내에서 캐치해서 자신들과 함께 라이딩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하고 싶은 사람들 끼리 모여 그룹을 만들 수 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비기능을 설명 하면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지오펜싱이라는 기술 사용하여 사용자의 범위를 설정하고 PostGIS에서 제공해주는 함수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범위 곂치는 범위을 계산해주는 함수을 사용하여 값을 서버 주고 T/F 구별 코딩 하여 알람을 보냅니다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[[발표 대사]]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목적 그룹 채팅 방 밑 즉시 모임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즉시 모임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앞서 말한 번개 모임을 어떻게 구별해서 만날 지을 알려주는 인터페이스 입니다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 sz="1200"/>
              <a:t>개인 라이더 위치표시한 사용자 </a:t>
            </a:r>
            <a:r>
              <a:rPr lang="ko-KR"/>
              <a:t>범위 내에 있는 다른 사용자들이 제시한 라이딩 경로를 볼 수 있고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참여할 수 있습니다 만날 장소를 거리 계산해서 중간위치를 제시하고 그 장소에서 만나서 라이딩을 할 수 있습니다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그룹방 입니다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예시를 들자면 게임 길드 같이 자주 라이딩하는 인원들과 함꼐 할 수 있는 그룹을 만듭니다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한마디로 동호회 같은 것입니다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앞서 이야기 했던  것처럼 동호회 회원들에게 지도경로 만들기를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 활용해서 팀장이 직관적으로 리이딩 경로를 보여줄 수 있습니다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프로필입니다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나의 총 라이딩 기록을 볼 수 있습니다 총거리 , 총 고도 , 총시간을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히스토리를 기록 되어 볼 수 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저잔한 경로는 다른 사용자가 게시물로 남긴 경로를 북마크 하여 경로를 저장해 그 게시물을 볼 수 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내가 만든 경로을 저장하여 한눈에 경로들을 볼 수 있습니다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비기능은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Db에 postGIS는 지리적 전용 DB 패키지 입니다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경로위치를 저장 할 수 있다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DB에 총 라이딩 기록 저장 저장한 경로(북마크)는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해당 사용자와 연결해서 다시 보여줌  </a:t>
            </a:r>
            <a:endParaRPr/>
          </a:p>
        </p:txBody>
      </p:sp>
      <p:sp>
        <p:nvSpPr>
          <p:cNvPr id="316" name="Google Shape;31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df6c72ab93_0_45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3df6c72ab93_0_4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f6c72ab93_0_60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g3df6c72ab93_0_6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f6c72ab93_0_660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g3df6c72ab93_0_6608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g3df6c72ab93_0_6608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" name="Google Shape;542;g3df6c72ab93_0_66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g3df6c72ab93_0_6608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g3df6c72ab93_0_66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f6c72ab93_0_6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df6c72ab93_0_67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g3df6c72ab93_0_67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df6c72ab93_351_0)">
  <p:cSld name="Generated (g3df6c72ab93_351_0)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2286000" y="2286000"/>
            <a:ext cx="7620000" cy="1428900"/>
            <a:chOff x="2286000" y="2286000"/>
            <a:chExt cx="7620000" cy="1428900"/>
          </a:xfrm>
        </p:grpSpPr>
        <p:sp>
          <p:nvSpPr>
            <p:cNvPr id="90" name="Google Shape;90;p1"/>
            <p:cNvSpPr/>
            <p:nvPr/>
          </p:nvSpPr>
          <p:spPr>
            <a:xfrm>
              <a:off x="2286000" y="2286000"/>
              <a:ext cx="7620000" cy="14289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2286000" y="2286000"/>
              <a:ext cx="762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CAPSTONE DESIGN PROJECT</a:t>
              </a:r>
              <a:endParaRPr sz="2000" b="1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-KR" sz="50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프로젝트: </a:t>
              </a:r>
              <a:r>
                <a:rPr lang="ko-KR" sz="50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페달 링크</a:t>
              </a:r>
              <a:endParaRPr sz="50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838200" y="6191250"/>
            <a:ext cx="10515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1"/>
          <p:cNvGrpSpPr/>
          <p:nvPr/>
        </p:nvGrpSpPr>
        <p:grpSpPr>
          <a:xfrm>
            <a:off x="476250" y="476250"/>
            <a:ext cx="11525250" cy="6191250"/>
            <a:chOff x="476250" y="476250"/>
            <a:chExt cx="11525250" cy="6191250"/>
          </a:xfrm>
        </p:grpSpPr>
        <p:sp>
          <p:nvSpPr>
            <p:cNvPr id="94" name="Google Shape;94;p1"/>
            <p:cNvSpPr/>
            <p:nvPr/>
          </p:nvSpPr>
          <p:spPr>
            <a:xfrm>
              <a:off x="476250" y="476250"/>
              <a:ext cx="952500" cy="952500"/>
            </a:xfrm>
            <a:prstGeom prst="ellipse">
              <a:avLst/>
            </a:prstGeom>
            <a:solidFill>
              <a:srgbClr val="DBEAFE">
                <a:alpha val="5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477500" y="5143500"/>
              <a:ext cx="1524000" cy="1524000"/>
            </a:xfrm>
            <a:prstGeom prst="ellipse">
              <a:avLst/>
            </a:prstGeom>
            <a:solidFill>
              <a:srgbClr val="DBEAFE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838200" y="0"/>
              <a:ext cx="10515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2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목차 </a:t>
              </a:r>
              <a:r>
                <a:rPr lang="ko-KR" sz="22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Table of Contents</a:t>
              </a:r>
              <a:endParaRPr sz="4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838200" y="1104900"/>
              <a:ext cx="105156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838200" y="1714500"/>
            <a:ext cx="10515600" cy="4000500"/>
            <a:chOff x="838200" y="1714500"/>
            <a:chExt cx="10515600" cy="4000500"/>
          </a:xfrm>
        </p:grpSpPr>
        <p:grpSp>
          <p:nvGrpSpPr>
            <p:cNvPr id="106" name="Google Shape;106;p2"/>
            <p:cNvGrpSpPr/>
            <p:nvPr/>
          </p:nvGrpSpPr>
          <p:grpSpPr>
            <a:xfrm>
              <a:off x="838200" y="1714500"/>
              <a:ext cx="4953000" cy="1143000"/>
              <a:chOff x="838200" y="1714500"/>
              <a:chExt cx="4953000" cy="1143000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838200" y="1714500"/>
                <a:ext cx="49530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sp>
            <p:nvSpPr>
              <p:cNvPr id="108" name="Google Shape;108;p2"/>
              <p:cNvSpPr txBox="1"/>
              <p:nvPr/>
            </p:nvSpPr>
            <p:spPr>
              <a:xfrm>
                <a:off x="1028700" y="171450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20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ko-KR" sz="2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팀장/팀원 구성 및 소개</a:t>
                </a:r>
                <a:endParaRPr sz="2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" name="Google Shape;109;p2"/>
            <p:cNvGrpSpPr/>
            <p:nvPr/>
          </p:nvGrpSpPr>
          <p:grpSpPr>
            <a:xfrm>
              <a:off x="6400800" y="1714500"/>
              <a:ext cx="4953000" cy="1143000"/>
              <a:chOff x="6400800" y="1714500"/>
              <a:chExt cx="4953000" cy="1143000"/>
            </a:xfrm>
          </p:grpSpPr>
          <p:sp>
            <p:nvSpPr>
              <p:cNvPr id="110" name="Google Shape;110;p2"/>
              <p:cNvSpPr/>
              <p:nvPr/>
            </p:nvSpPr>
            <p:spPr>
              <a:xfrm>
                <a:off x="6400800" y="1714500"/>
                <a:ext cx="49530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sp>
            <p:nvSpPr>
              <p:cNvPr id="111" name="Google Shape;111;p2"/>
              <p:cNvSpPr txBox="1"/>
              <p:nvPr/>
            </p:nvSpPr>
            <p:spPr>
              <a:xfrm>
                <a:off x="6591300" y="171450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sz="20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ko-KR" sz="2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프로젝트 주제</a:t>
                </a:r>
                <a:endParaRPr sz="2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" name="Google Shape;112;p2"/>
            <p:cNvGrpSpPr/>
            <p:nvPr/>
          </p:nvGrpSpPr>
          <p:grpSpPr>
            <a:xfrm>
              <a:off x="838200" y="3143250"/>
              <a:ext cx="4953000" cy="1143000"/>
              <a:chOff x="838200" y="3143250"/>
              <a:chExt cx="4953000" cy="1143000"/>
            </a:xfrm>
          </p:grpSpPr>
          <p:sp>
            <p:nvSpPr>
              <p:cNvPr id="113" name="Google Shape;113;p2"/>
              <p:cNvSpPr/>
              <p:nvPr/>
            </p:nvSpPr>
            <p:spPr>
              <a:xfrm>
                <a:off x="838200" y="3143250"/>
                <a:ext cx="49530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sp>
            <p:nvSpPr>
              <p:cNvPr id="114" name="Google Shape;114;p2"/>
              <p:cNvSpPr txBox="1"/>
              <p:nvPr/>
            </p:nvSpPr>
            <p:spPr>
              <a:xfrm>
                <a:off x="1028700" y="314325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sz="20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ko-KR" sz="2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핵심 내용 및 기능 요구사항</a:t>
                </a:r>
                <a:endParaRPr sz="2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" name="Google Shape;115;p2"/>
            <p:cNvGrpSpPr/>
            <p:nvPr/>
          </p:nvGrpSpPr>
          <p:grpSpPr>
            <a:xfrm>
              <a:off x="6400800" y="3143250"/>
              <a:ext cx="4953000" cy="1143000"/>
              <a:chOff x="6400800" y="3143250"/>
              <a:chExt cx="4953000" cy="1143000"/>
            </a:xfrm>
          </p:grpSpPr>
          <p:sp>
            <p:nvSpPr>
              <p:cNvPr id="116" name="Google Shape;116;p2"/>
              <p:cNvSpPr/>
              <p:nvPr/>
            </p:nvSpPr>
            <p:spPr>
              <a:xfrm>
                <a:off x="6400800" y="3143250"/>
                <a:ext cx="49530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sp>
            <p:nvSpPr>
              <p:cNvPr id="117" name="Google Shape;117;p2"/>
              <p:cNvSpPr txBox="1"/>
              <p:nvPr/>
            </p:nvSpPr>
            <p:spPr>
              <a:xfrm>
                <a:off x="6591300" y="314325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sz="20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ko-KR" sz="2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필요성 및 기대 효과 도출</a:t>
                </a:r>
                <a:endParaRPr sz="2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2"/>
            <p:cNvGrpSpPr/>
            <p:nvPr/>
          </p:nvGrpSpPr>
          <p:grpSpPr>
            <a:xfrm>
              <a:off x="838200" y="4572000"/>
              <a:ext cx="4953000" cy="1143000"/>
              <a:chOff x="838200" y="4572000"/>
              <a:chExt cx="4953000" cy="1143000"/>
            </a:xfrm>
          </p:grpSpPr>
          <p:sp>
            <p:nvSpPr>
              <p:cNvPr id="119" name="Google Shape;119;p2"/>
              <p:cNvSpPr/>
              <p:nvPr/>
            </p:nvSpPr>
            <p:spPr>
              <a:xfrm>
                <a:off x="838200" y="4572000"/>
                <a:ext cx="49530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sp>
            <p:nvSpPr>
              <p:cNvPr id="120" name="Google Shape;120;p2"/>
              <p:cNvSpPr txBox="1"/>
              <p:nvPr/>
            </p:nvSpPr>
            <p:spPr>
              <a:xfrm>
                <a:off x="1028700" y="457200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 sz="20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ko-KR" sz="2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구체적인 업무 분장표</a:t>
                </a:r>
                <a:endParaRPr sz="2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" name="Google Shape;121;p2"/>
            <p:cNvGrpSpPr/>
            <p:nvPr/>
          </p:nvGrpSpPr>
          <p:grpSpPr>
            <a:xfrm>
              <a:off x="6400800" y="4572000"/>
              <a:ext cx="4953000" cy="1143000"/>
              <a:chOff x="6400800" y="4572000"/>
              <a:chExt cx="4953000" cy="1143000"/>
            </a:xfrm>
          </p:grpSpPr>
          <p:sp>
            <p:nvSpPr>
              <p:cNvPr id="122" name="Google Shape;122;p2"/>
              <p:cNvSpPr/>
              <p:nvPr/>
            </p:nvSpPr>
            <p:spPr>
              <a:xfrm>
                <a:off x="6400800" y="4572000"/>
                <a:ext cx="49530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sp>
            <p:nvSpPr>
              <p:cNvPr id="123" name="Google Shape;123;p2"/>
              <p:cNvSpPr txBox="1"/>
              <p:nvPr/>
            </p:nvSpPr>
            <p:spPr>
              <a:xfrm>
                <a:off x="6591300" y="457200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06</a:t>
                </a:r>
                <a:endParaRPr sz="20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ko-KR" sz="2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11월까지의 타임라인</a:t>
                </a:r>
                <a:endParaRPr sz="2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838200" y="0"/>
              <a:ext cx="10515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2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01 </a:t>
              </a:r>
              <a:r>
                <a:rPr lang="ko-KR" sz="22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팀장/팀원 구성 및 소개</a:t>
              </a:r>
              <a:endParaRPr sz="4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838200" y="1104900"/>
              <a:ext cx="105156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3"/>
          <p:cNvGrpSpPr/>
          <p:nvPr/>
        </p:nvGrpSpPr>
        <p:grpSpPr>
          <a:xfrm>
            <a:off x="838200" y="1714500"/>
            <a:ext cx="3429000" cy="4000500"/>
            <a:chOff x="838200" y="1714500"/>
            <a:chExt cx="3429000" cy="4000500"/>
          </a:xfrm>
        </p:grpSpPr>
        <p:sp>
          <p:nvSpPr>
            <p:cNvPr id="134" name="Google Shape;134;p3"/>
            <p:cNvSpPr/>
            <p:nvPr/>
          </p:nvSpPr>
          <p:spPr>
            <a:xfrm>
              <a:off x="838200" y="17145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838200" y="1714500"/>
              <a:ext cx="3429000" cy="952500"/>
            </a:xfrm>
            <a:prstGeom prst="roundRect">
              <a:avLst>
                <a:gd name="adj" fmla="val 16000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36" name="Google Shape;136;p3"/>
            <p:cNvSpPr txBox="1"/>
            <p:nvPr/>
          </p:nvSpPr>
          <p:spPr>
            <a:xfrm>
              <a:off x="838200" y="1857375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Team Leader</a:t>
              </a:r>
              <a:endParaRPr sz="2200" b="1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1123950" y="2857500"/>
              <a:ext cx="2857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김호성</a:t>
              </a:r>
              <a:endParaRPr sz="26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-KR" sz="18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202207034</a:t>
              </a:r>
              <a:endParaRPr sz="18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139" name="Google Shape;139;p3"/>
            <p:cNvSpPr/>
            <p:nvPr/>
          </p:nvSpPr>
          <p:spPr>
            <a:xfrm>
              <a:off x="4381500" y="17145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381500" y="1714500"/>
              <a:ext cx="3429000" cy="952500"/>
            </a:xfrm>
            <a:prstGeom prst="roundRect">
              <a:avLst>
                <a:gd name="adj" fmla="val 16000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4381500" y="1857375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Team Member</a:t>
              </a:r>
              <a:endParaRPr sz="22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"/>
            <p:cNvSpPr txBox="1"/>
            <p:nvPr/>
          </p:nvSpPr>
          <p:spPr>
            <a:xfrm>
              <a:off x="4667250" y="2857500"/>
              <a:ext cx="2857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 b="1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임연수</a:t>
              </a:r>
              <a:endParaRPr sz="26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-KR" sz="18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r>
                <a:rPr lang="en-US" altLang="ko-KR" sz="18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ko-KR" sz="18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r>
                <a:rPr lang="en-US" altLang="ko-KR" sz="1800" dirty="0">
                  <a:solidFill>
                    <a:srgbClr val="64748B"/>
                  </a:solidFill>
                </a:rPr>
                <a:t>9</a:t>
              </a:r>
              <a:r>
                <a:rPr lang="ko-KR" sz="18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altLang="ko-KR" sz="18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sz="18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3"/>
          <p:cNvGrpSpPr/>
          <p:nvPr/>
        </p:nvGrpSpPr>
        <p:grpSpPr>
          <a:xfrm>
            <a:off x="7924800" y="1714500"/>
            <a:ext cx="3429000" cy="4000500"/>
            <a:chOff x="7924800" y="1714500"/>
            <a:chExt cx="3429000" cy="4000500"/>
          </a:xfrm>
        </p:grpSpPr>
        <p:sp>
          <p:nvSpPr>
            <p:cNvPr id="144" name="Google Shape;144;p3"/>
            <p:cNvSpPr/>
            <p:nvPr/>
          </p:nvSpPr>
          <p:spPr>
            <a:xfrm>
              <a:off x="7924800" y="17145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924800" y="1714500"/>
              <a:ext cx="3429000" cy="952500"/>
            </a:xfrm>
            <a:prstGeom prst="roundRect">
              <a:avLst>
                <a:gd name="adj" fmla="val 16000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46" name="Google Shape;146;p3"/>
            <p:cNvSpPr txBox="1"/>
            <p:nvPr/>
          </p:nvSpPr>
          <p:spPr>
            <a:xfrm>
              <a:off x="7924800" y="1857375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Team Member</a:t>
              </a:r>
              <a:endParaRPr sz="22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"/>
            <p:cNvSpPr txBox="1"/>
            <p:nvPr/>
          </p:nvSpPr>
          <p:spPr>
            <a:xfrm>
              <a:off x="8210550" y="2857500"/>
              <a:ext cx="2857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신재원</a:t>
              </a:r>
              <a:endParaRPr sz="26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64748B"/>
                  </a:solidFill>
                </a:rPr>
                <a:t>202102059</a:t>
              </a:r>
              <a:endParaRPr sz="18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4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153" name="Google Shape;153;p4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838200" y="0"/>
              <a:ext cx="10515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2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02 </a:t>
              </a:r>
              <a:r>
                <a:rPr lang="ko-KR" sz="22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프로젝트 주제</a:t>
              </a:r>
              <a:endParaRPr sz="4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838200" y="1104900"/>
              <a:ext cx="105156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838200" y="1428750"/>
            <a:ext cx="10515600" cy="1047900"/>
            <a:chOff x="838200" y="1428750"/>
            <a:chExt cx="10515600" cy="1047900"/>
          </a:xfrm>
        </p:grpSpPr>
        <p:sp>
          <p:nvSpPr>
            <p:cNvPr id="157" name="Google Shape;157;p4"/>
            <p:cNvSpPr/>
            <p:nvPr/>
          </p:nvSpPr>
          <p:spPr>
            <a:xfrm>
              <a:off x="838200" y="1428750"/>
              <a:ext cx="10515600" cy="1047900"/>
            </a:xfrm>
            <a:prstGeom prst="roundRect">
              <a:avLst>
                <a:gd name="adj" fmla="val 10909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1123950" y="1428750"/>
              <a:ext cx="9944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주제: 경험 공유와 맞춤형 코스 추천을 넘어, 실시간 매칭으로 함께 달리는 ‘라이딩 소셜 플랫폼’</a:t>
              </a:r>
              <a:endParaRPr sz="2000" b="1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-KR" b="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-단순한 길 안내를 넘어 </a:t>
              </a:r>
              <a:r>
                <a:rPr lang="ko-KR" b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라이더의 경험과 연결</a:t>
              </a:r>
              <a:r>
                <a:rPr lang="ko-KR" b="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에 집중합니다.-</a:t>
              </a:r>
              <a:endParaRPr b="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838200" y="2667000"/>
            <a:ext cx="10515600" cy="3810000"/>
            <a:chOff x="838200" y="2667000"/>
            <a:chExt cx="10515600" cy="3810000"/>
          </a:xfrm>
        </p:grpSpPr>
        <p:sp>
          <p:nvSpPr>
            <p:cNvPr id="160" name="Google Shape;160;p4"/>
            <p:cNvSpPr/>
            <p:nvPr/>
          </p:nvSpPr>
          <p:spPr>
            <a:xfrm>
              <a:off x="838200" y="2667000"/>
              <a:ext cx="105156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1" name="Google Shape;161;p4"/>
            <p:cNvCxnSpPr/>
            <p:nvPr/>
          </p:nvCxnSpPr>
          <p:spPr>
            <a:xfrm>
              <a:off x="2743200" y="2667000"/>
              <a:ext cx="0" cy="38100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2" name="Google Shape;162;p4"/>
            <p:cNvCxnSpPr/>
            <p:nvPr/>
          </p:nvCxnSpPr>
          <p:spPr>
            <a:xfrm>
              <a:off x="7467600" y="2667000"/>
              <a:ext cx="0" cy="38100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3" name="Google Shape;163;p4"/>
            <p:cNvSpPr/>
            <p:nvPr/>
          </p:nvSpPr>
          <p:spPr>
            <a:xfrm>
              <a:off x="838200" y="2667000"/>
              <a:ext cx="10515600" cy="571500"/>
            </a:xfrm>
            <a:prstGeom prst="roundRect">
              <a:avLst>
                <a:gd name="adj" fmla="val 26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838200" y="2952750"/>
              <a:ext cx="10515600" cy="2859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838200" y="26670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구분</a:t>
              </a:r>
              <a:endParaRPr sz="18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2743200" y="2667000"/>
              <a:ext cx="47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기존 앱</a:t>
              </a:r>
              <a:endParaRPr sz="200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7467600" y="2667000"/>
              <a:ext cx="3886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페달 링크</a:t>
              </a:r>
              <a:endParaRPr sz="2000" b="1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" name="Google Shape;168;p4"/>
            <p:cNvGrpSpPr/>
            <p:nvPr/>
          </p:nvGrpSpPr>
          <p:grpSpPr>
            <a:xfrm>
              <a:off x="838200" y="3238500"/>
              <a:ext cx="10515600" cy="1047900"/>
              <a:chOff x="838200" y="3238500"/>
              <a:chExt cx="10515600" cy="1047900"/>
            </a:xfrm>
          </p:grpSpPr>
          <p:sp>
            <p:nvSpPr>
              <p:cNvPr id="169" name="Google Shape;169;p4"/>
              <p:cNvSpPr txBox="1"/>
              <p:nvPr/>
            </p:nvSpPr>
            <p:spPr>
              <a:xfrm>
                <a:off x="838200" y="3238500"/>
                <a:ext cx="19050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700" b="1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핵심목적</a:t>
                </a:r>
                <a:endParaRPr sz="1700" b="1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4"/>
              <p:cNvSpPr txBox="1"/>
              <p:nvPr/>
            </p:nvSpPr>
            <p:spPr>
              <a:xfrm>
                <a:off x="3028950" y="3238500"/>
                <a:ext cx="41529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1. 목적지까지의 최단 시간/거리 경로 안내</a:t>
                </a:r>
                <a:endParaRPr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7753350" y="3238500"/>
                <a:ext cx="33147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1. 라이딩 경험 공유 및 커뮤니티 형성</a:t>
                </a:r>
                <a:endParaRPr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2" name="Google Shape;172;p4"/>
              <p:cNvCxnSpPr/>
              <p:nvPr/>
            </p:nvCxnSpPr>
            <p:spPr>
              <a:xfrm>
                <a:off x="838200" y="4286250"/>
                <a:ext cx="105156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73" name="Google Shape;173;p4"/>
            <p:cNvGrpSpPr/>
            <p:nvPr/>
          </p:nvGrpSpPr>
          <p:grpSpPr>
            <a:xfrm>
              <a:off x="838200" y="4286250"/>
              <a:ext cx="10515600" cy="1047900"/>
              <a:chOff x="838200" y="4286250"/>
              <a:chExt cx="10515600" cy="1047900"/>
            </a:xfrm>
          </p:grpSpPr>
          <p:sp>
            <p:nvSpPr>
              <p:cNvPr id="174" name="Google Shape;174;p4"/>
              <p:cNvSpPr txBox="1"/>
              <p:nvPr/>
            </p:nvSpPr>
            <p:spPr>
              <a:xfrm>
                <a:off x="838200" y="4286250"/>
                <a:ext cx="19050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700" b="1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알고리즘</a:t>
                </a:r>
                <a:endParaRPr sz="1700" b="1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4"/>
              <p:cNvSpPr txBox="1"/>
              <p:nvPr/>
            </p:nvSpPr>
            <p:spPr>
              <a:xfrm>
                <a:off x="3028950" y="4286250"/>
                <a:ext cx="41529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2. 자동차/도로 중심의 획일적 경로</a:t>
                </a:r>
                <a:endParaRPr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4"/>
              <p:cNvSpPr txBox="1"/>
              <p:nvPr/>
            </p:nvSpPr>
            <p:spPr>
              <a:xfrm>
                <a:off x="7753350" y="4286250"/>
                <a:ext cx="33147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2. 자전거 도로 중심 경로 및 다양한 경로 생성</a:t>
                </a:r>
                <a:endParaRPr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7" name="Google Shape;177;p4"/>
              <p:cNvCxnSpPr/>
              <p:nvPr/>
            </p:nvCxnSpPr>
            <p:spPr>
              <a:xfrm>
                <a:off x="838200" y="5334000"/>
                <a:ext cx="105156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78" name="Google Shape;178;p4"/>
            <p:cNvGrpSpPr/>
            <p:nvPr/>
          </p:nvGrpSpPr>
          <p:grpSpPr>
            <a:xfrm>
              <a:off x="838200" y="5334000"/>
              <a:ext cx="10229850" cy="1143000"/>
              <a:chOff x="838200" y="5334000"/>
              <a:chExt cx="10229850" cy="1143000"/>
            </a:xfrm>
          </p:grpSpPr>
          <p:sp>
            <p:nvSpPr>
              <p:cNvPr id="179" name="Google Shape;179;p4"/>
              <p:cNvSpPr txBox="1"/>
              <p:nvPr/>
            </p:nvSpPr>
            <p:spPr>
              <a:xfrm>
                <a:off x="838200" y="5334000"/>
                <a:ext cx="1905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700" b="1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데이터</a:t>
                </a:r>
                <a:endParaRPr sz="1700" b="1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"/>
              <p:cNvSpPr txBox="1"/>
              <p:nvPr/>
            </p:nvSpPr>
            <p:spPr>
              <a:xfrm>
                <a:off x="3028950" y="5334000"/>
                <a:ext cx="41529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3. 공공/기반 시설 위주의 정적 데이터</a:t>
                </a:r>
                <a:endParaRPr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4"/>
              <p:cNvSpPr txBox="1"/>
              <p:nvPr/>
            </p:nvSpPr>
            <p:spPr>
              <a:xfrm>
                <a:off x="7753350" y="5334000"/>
                <a:ext cx="33147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3. 라이더들의 실제 주행 경험 기반 동적 데이터</a:t>
                </a:r>
                <a:endParaRPr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5"/>
          <p:cNvGrpSpPr/>
          <p:nvPr/>
        </p:nvGrpSpPr>
        <p:grpSpPr>
          <a:xfrm>
            <a:off x="0" y="0"/>
            <a:ext cx="12192000" cy="952500"/>
            <a:chOff x="0" y="0"/>
            <a:chExt cx="12192000" cy="952500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62000" y="914400"/>
              <a:ext cx="106680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762000" y="0"/>
              <a:ext cx="1066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03 </a:t>
              </a:r>
              <a:r>
                <a:rPr lang="ko-KR" sz="20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핵심 내용 및 기능요구사항 기술</a:t>
              </a:r>
              <a:endParaRPr sz="3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5"/>
          <p:cNvGrpSpPr/>
          <p:nvPr/>
        </p:nvGrpSpPr>
        <p:grpSpPr>
          <a:xfrm>
            <a:off x="762000" y="1238250"/>
            <a:ext cx="10668000" cy="1143000"/>
            <a:chOff x="762000" y="1238250"/>
            <a:chExt cx="10668000" cy="1143000"/>
          </a:xfrm>
        </p:grpSpPr>
        <p:sp>
          <p:nvSpPr>
            <p:cNvPr id="192" name="Google Shape;192;p5"/>
            <p:cNvSpPr/>
            <p:nvPr/>
          </p:nvSpPr>
          <p:spPr>
            <a:xfrm>
              <a:off x="762000" y="1238250"/>
              <a:ext cx="10668000" cy="1143000"/>
            </a:xfrm>
            <a:prstGeom prst="roundRect">
              <a:avLst>
                <a:gd name="adj" fmla="val 10000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1047750" y="1238250"/>
              <a:ext cx="10096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프로젝트 개요</a:t>
              </a:r>
              <a:endParaRPr sz="2000" b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자전거를 단순한 이동 수단이 아닌 </a:t>
              </a:r>
              <a:r>
                <a:rPr lang="ko-KR" sz="1600" b="1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취미·여가</a:t>
              </a:r>
              <a:r>
                <a:rPr lang="ko-KR" sz="16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로 즐기는 사람들을 위한 라이딩 소셜 플랫폼.</a:t>
              </a:r>
              <a:endParaRPr sz="16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5"/>
          <p:cNvGrpSpPr/>
          <p:nvPr/>
        </p:nvGrpSpPr>
        <p:grpSpPr>
          <a:xfrm>
            <a:off x="762000" y="2571750"/>
            <a:ext cx="10668075" cy="2667000"/>
            <a:chOff x="762000" y="2571750"/>
            <a:chExt cx="10668075" cy="2667000"/>
          </a:xfrm>
        </p:grpSpPr>
        <p:grpSp>
          <p:nvGrpSpPr>
            <p:cNvPr id="195" name="Google Shape;195;p5"/>
            <p:cNvGrpSpPr/>
            <p:nvPr/>
          </p:nvGrpSpPr>
          <p:grpSpPr>
            <a:xfrm>
              <a:off x="762000" y="2571750"/>
              <a:ext cx="2524200" cy="2667000"/>
              <a:chOff x="762000" y="2571750"/>
              <a:chExt cx="2524200" cy="2667000"/>
            </a:xfrm>
          </p:grpSpPr>
          <p:sp>
            <p:nvSpPr>
              <p:cNvPr id="196" name="Google Shape;196;p5"/>
              <p:cNvSpPr/>
              <p:nvPr/>
            </p:nvSpPr>
            <p:spPr>
              <a:xfrm>
                <a:off x="762000" y="2571750"/>
                <a:ext cx="2524200" cy="2667000"/>
              </a:xfrm>
              <a:prstGeom prst="roundRect">
                <a:avLst>
                  <a:gd name="adj" fmla="val 603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sp>
            <p:nvSpPr>
              <p:cNvPr id="197" name="Google Shape;197;p5"/>
              <p:cNvSpPr txBox="1"/>
              <p:nvPr/>
            </p:nvSpPr>
            <p:spPr>
              <a:xfrm>
                <a:off x="762000" y="2571750"/>
                <a:ext cx="25242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38125" tIns="238125" rIns="238125" bIns="238125" anchor="t" anchorCtr="0">
                <a:noAutofit/>
              </a:bodyPr>
              <a:lstStyle/>
              <a:p>
                <a:pPr marL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ko-KR" sz="3200" b="1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대상</a:t>
                </a:r>
                <a:endParaRPr sz="18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ko-KR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취미로 자전거를 즐기는 개인 및 그룹</a:t>
                </a:r>
                <a:endParaRPr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198;p5"/>
            <p:cNvGrpSpPr/>
            <p:nvPr/>
          </p:nvGrpSpPr>
          <p:grpSpPr>
            <a:xfrm>
              <a:off x="3476625" y="2571750"/>
              <a:ext cx="2524200" cy="2667000"/>
              <a:chOff x="3476625" y="2571750"/>
              <a:chExt cx="2524200" cy="2667000"/>
            </a:xfrm>
          </p:grpSpPr>
          <p:sp>
            <p:nvSpPr>
              <p:cNvPr id="199" name="Google Shape;199;p5"/>
              <p:cNvSpPr/>
              <p:nvPr/>
            </p:nvSpPr>
            <p:spPr>
              <a:xfrm>
                <a:off x="3476625" y="2571750"/>
                <a:ext cx="2524200" cy="2667000"/>
              </a:xfrm>
              <a:prstGeom prst="roundRect">
                <a:avLst>
                  <a:gd name="adj" fmla="val 603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sp>
            <p:nvSpPr>
              <p:cNvPr id="200" name="Google Shape;200;p5"/>
              <p:cNvSpPr txBox="1"/>
              <p:nvPr/>
            </p:nvSpPr>
            <p:spPr>
              <a:xfrm>
                <a:off x="3476625" y="2571750"/>
                <a:ext cx="25242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38125" tIns="238125" rIns="238125" bIns="238125" anchor="t" anchorCtr="0">
                <a:noAutofit/>
              </a:bodyPr>
              <a:lstStyle/>
              <a:p>
                <a:pPr marL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ko-KR" sz="3200" b="1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목적</a:t>
                </a:r>
                <a:endParaRPr sz="18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ko-KR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라이딩 동반자 및 모임 연결 및 개인 제작 경로 공유</a:t>
                </a:r>
                <a:endParaRPr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5"/>
            <p:cNvGrpSpPr/>
            <p:nvPr/>
          </p:nvGrpSpPr>
          <p:grpSpPr>
            <a:xfrm>
              <a:off x="6191250" y="2571750"/>
              <a:ext cx="2524200" cy="2667000"/>
              <a:chOff x="6191250" y="2571750"/>
              <a:chExt cx="2524200" cy="2667000"/>
            </a:xfrm>
          </p:grpSpPr>
          <p:sp>
            <p:nvSpPr>
              <p:cNvPr id="202" name="Google Shape;202;p5"/>
              <p:cNvSpPr/>
              <p:nvPr/>
            </p:nvSpPr>
            <p:spPr>
              <a:xfrm>
                <a:off x="6191250" y="2571750"/>
                <a:ext cx="2524200" cy="2667000"/>
              </a:xfrm>
              <a:prstGeom prst="roundRect">
                <a:avLst>
                  <a:gd name="adj" fmla="val 603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sp>
            <p:nvSpPr>
              <p:cNvPr id="203" name="Google Shape;203;p5"/>
              <p:cNvSpPr txBox="1"/>
              <p:nvPr/>
            </p:nvSpPr>
            <p:spPr>
              <a:xfrm>
                <a:off x="6191250" y="2571750"/>
                <a:ext cx="25242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38125" tIns="238125" rIns="238125" bIns="238125" anchor="t" anchorCtr="0">
                <a:noAutofit/>
              </a:bodyPr>
              <a:lstStyle/>
              <a:p>
                <a:pPr marL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ko-KR" sz="3200" b="1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형태</a:t>
                </a:r>
                <a:endParaRPr sz="32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ko-KR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앱/웹 크로스 플랫폼</a:t>
                </a:r>
                <a:endParaRPr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4" name="Google Shape;204;p5"/>
            <p:cNvGrpSpPr/>
            <p:nvPr/>
          </p:nvGrpSpPr>
          <p:grpSpPr>
            <a:xfrm>
              <a:off x="8905875" y="2571750"/>
              <a:ext cx="2524200" cy="2667000"/>
              <a:chOff x="8905875" y="2571750"/>
              <a:chExt cx="2524200" cy="2667000"/>
            </a:xfrm>
          </p:grpSpPr>
          <p:sp>
            <p:nvSpPr>
              <p:cNvPr id="205" name="Google Shape;205;p5"/>
              <p:cNvSpPr/>
              <p:nvPr/>
            </p:nvSpPr>
            <p:spPr>
              <a:xfrm>
                <a:off x="8905875" y="2571750"/>
                <a:ext cx="2524200" cy="2667000"/>
              </a:xfrm>
              <a:prstGeom prst="roundRect">
                <a:avLst>
                  <a:gd name="adj" fmla="val 603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sp>
            <p:nvSpPr>
              <p:cNvPr id="206" name="Google Shape;206;p5"/>
              <p:cNvSpPr txBox="1"/>
              <p:nvPr/>
            </p:nvSpPr>
            <p:spPr>
              <a:xfrm>
                <a:off x="8905875" y="2571750"/>
                <a:ext cx="25242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38125" tIns="238125" rIns="238125" bIns="238125" anchor="t" anchorCtr="0">
                <a:noAutofit/>
              </a:bodyPr>
              <a:lstStyle/>
              <a:p>
                <a:pPr marL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ko-KR" sz="3200" b="1" dirty="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가치</a:t>
                </a:r>
                <a:endParaRPr sz="18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ko-KR" dirty="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자전거를 라이프스타일로 확장 및 유용한 경로 공유 네트워크</a:t>
                </a:r>
                <a:endParaRPr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7" name="Google Shape;207;p5"/>
          <p:cNvGrpSpPr/>
          <p:nvPr/>
        </p:nvGrpSpPr>
        <p:grpSpPr>
          <a:xfrm>
            <a:off x="762000" y="5524500"/>
            <a:ext cx="10668000" cy="762000"/>
            <a:chOff x="762000" y="5524500"/>
            <a:chExt cx="10668000" cy="762000"/>
          </a:xfrm>
        </p:grpSpPr>
        <p:sp>
          <p:nvSpPr>
            <p:cNvPr id="208" name="Google Shape;208;p5"/>
            <p:cNvSpPr/>
            <p:nvPr/>
          </p:nvSpPr>
          <p:spPr>
            <a:xfrm>
              <a:off x="762000" y="5524500"/>
              <a:ext cx="10668000" cy="7620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09" name="Google Shape;209;p5"/>
            <p:cNvSpPr txBox="1"/>
            <p:nvPr/>
          </p:nvSpPr>
          <p:spPr>
            <a:xfrm>
              <a:off x="952500" y="5524500"/>
              <a:ext cx="1028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개인 혹은 그룹 단위로 </a:t>
              </a:r>
              <a:r>
                <a:rPr lang="ko-KR" sz="1500" b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손쉽게 함께 자전거를 탈 수 있는 환경</a:t>
              </a:r>
              <a:r>
                <a:rPr lang="ko-KR" sz="15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을 구축하는 것을 목표로 합니다.</a:t>
              </a:r>
              <a:endParaRPr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기능 요구상황</a:t>
            </a:r>
            <a:endParaRPr sz="34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6"/>
          <p:cNvGrpSpPr/>
          <p:nvPr/>
        </p:nvGrpSpPr>
        <p:grpSpPr>
          <a:xfrm>
            <a:off x="762000" y="1428750"/>
            <a:ext cx="3333900" cy="1714500"/>
            <a:chOff x="762000" y="1428750"/>
            <a:chExt cx="3333900" cy="1714500"/>
          </a:xfrm>
        </p:grpSpPr>
        <p:sp>
          <p:nvSpPr>
            <p:cNvPr id="220" name="Google Shape;220;p6"/>
            <p:cNvSpPr/>
            <p:nvPr/>
          </p:nvSpPr>
          <p:spPr>
            <a:xfrm>
              <a:off x="762000" y="1428750"/>
              <a:ext cx="33339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762000" y="1428750"/>
              <a:ext cx="3333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게시물 관리</a:t>
              </a:r>
              <a:endParaRPr sz="2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-KR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생성, 업로드, 삭제 기능</a:t>
              </a:r>
              <a:endParaRPr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6"/>
          <p:cNvGrpSpPr/>
          <p:nvPr/>
        </p:nvGrpSpPr>
        <p:grpSpPr>
          <a:xfrm>
            <a:off x="4429125" y="1428750"/>
            <a:ext cx="3333900" cy="1714500"/>
            <a:chOff x="4429125" y="1428750"/>
            <a:chExt cx="3333900" cy="1714500"/>
          </a:xfrm>
        </p:grpSpPr>
        <p:sp>
          <p:nvSpPr>
            <p:cNvPr id="223" name="Google Shape;223;p6"/>
            <p:cNvSpPr/>
            <p:nvPr/>
          </p:nvSpPr>
          <p:spPr>
            <a:xfrm>
              <a:off x="4429125" y="1428750"/>
              <a:ext cx="33339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4429125" y="1428750"/>
              <a:ext cx="3333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경로 만들기</a:t>
              </a:r>
              <a:endParaRPr sz="2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-KR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나만의 라이딩 코스 설계</a:t>
              </a:r>
              <a:endParaRPr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6"/>
          <p:cNvGrpSpPr/>
          <p:nvPr/>
        </p:nvGrpSpPr>
        <p:grpSpPr>
          <a:xfrm>
            <a:off x="8096250" y="1428750"/>
            <a:ext cx="3333900" cy="1714500"/>
            <a:chOff x="8096250" y="1428750"/>
            <a:chExt cx="3333900" cy="1714500"/>
          </a:xfrm>
        </p:grpSpPr>
        <p:sp>
          <p:nvSpPr>
            <p:cNvPr id="226" name="Google Shape;226;p6"/>
            <p:cNvSpPr/>
            <p:nvPr/>
          </p:nvSpPr>
          <p:spPr>
            <a:xfrm>
              <a:off x="8096250" y="1428750"/>
              <a:ext cx="33339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8096250" y="1428750"/>
              <a:ext cx="3333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인인 플러스</a:t>
              </a:r>
              <a:endParaRPr sz="2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-KR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프리미엄 추가 기능 제공</a:t>
              </a:r>
              <a:endParaRPr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6"/>
          <p:cNvGrpSpPr/>
          <p:nvPr/>
        </p:nvGrpSpPr>
        <p:grpSpPr>
          <a:xfrm>
            <a:off x="762000" y="3429000"/>
            <a:ext cx="3333900" cy="1714500"/>
            <a:chOff x="762000" y="3429000"/>
            <a:chExt cx="3333900" cy="1714500"/>
          </a:xfrm>
        </p:grpSpPr>
        <p:sp>
          <p:nvSpPr>
            <p:cNvPr id="229" name="Google Shape;229;p6"/>
            <p:cNvSpPr/>
            <p:nvPr/>
          </p:nvSpPr>
          <p:spPr>
            <a:xfrm>
              <a:off x="762000" y="3429000"/>
              <a:ext cx="33339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762000" y="3429000"/>
              <a:ext cx="3333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그룹</a:t>
              </a:r>
              <a:endParaRPr sz="2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-KR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라이딩 소모임 및 커뮤니티</a:t>
              </a:r>
              <a:endParaRPr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6"/>
          <p:cNvGrpSpPr/>
          <p:nvPr/>
        </p:nvGrpSpPr>
        <p:grpSpPr>
          <a:xfrm>
            <a:off x="4429125" y="3429000"/>
            <a:ext cx="3333900" cy="1714500"/>
            <a:chOff x="4429125" y="3429000"/>
            <a:chExt cx="3333900" cy="1714500"/>
          </a:xfrm>
        </p:grpSpPr>
        <p:sp>
          <p:nvSpPr>
            <p:cNvPr id="232" name="Google Shape;232;p6"/>
            <p:cNvSpPr/>
            <p:nvPr/>
          </p:nvSpPr>
          <p:spPr>
            <a:xfrm>
              <a:off x="4429125" y="3429000"/>
              <a:ext cx="33339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33" name="Google Shape;233;p6"/>
            <p:cNvSpPr txBox="1"/>
            <p:nvPr/>
          </p:nvSpPr>
          <p:spPr>
            <a:xfrm>
              <a:off x="4429125" y="3429000"/>
              <a:ext cx="3333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채팅</a:t>
              </a:r>
              <a:endParaRPr sz="2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-KR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실시간 소통 및 매칭</a:t>
              </a:r>
              <a:endParaRPr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" name="Google Shape;234;p6"/>
          <p:cNvGrpSpPr/>
          <p:nvPr/>
        </p:nvGrpSpPr>
        <p:grpSpPr>
          <a:xfrm>
            <a:off x="8096250" y="3429000"/>
            <a:ext cx="3333900" cy="1714500"/>
            <a:chOff x="8096250" y="3429000"/>
            <a:chExt cx="3333900" cy="1714500"/>
          </a:xfrm>
        </p:grpSpPr>
        <p:sp>
          <p:nvSpPr>
            <p:cNvPr id="235" name="Google Shape;235;p6"/>
            <p:cNvSpPr/>
            <p:nvPr/>
          </p:nvSpPr>
          <p:spPr>
            <a:xfrm>
              <a:off x="8096250" y="3429000"/>
              <a:ext cx="33339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8096250" y="3429000"/>
              <a:ext cx="3333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프로필</a:t>
              </a:r>
              <a:endParaRPr sz="2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-KR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개인 활동 기록 및 관리</a:t>
              </a:r>
              <a:endParaRPr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6"/>
          <p:cNvSpPr/>
          <p:nvPr/>
        </p:nvSpPr>
        <p:spPr>
          <a:xfrm>
            <a:off x="762000" y="552450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952500" y="5524500"/>
            <a:ext cx="10287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사용자 경험 중심의 </a:t>
            </a:r>
            <a:r>
              <a:rPr lang="ko-KR" sz="1700" b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라이딩 소셜 플랫폼</a:t>
            </a:r>
            <a:r>
              <a:rPr lang="ko-KR" sz="17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을 위한 핵심 기능 요구사항입니다.</a:t>
            </a:r>
            <a:endParaRPr sz="17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3. 핵심 내용 및 기능요구사항 기술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게시글 생성</a:t>
            </a:r>
            <a:endParaRPr sz="34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7"/>
          <p:cNvGrpSpPr/>
          <p:nvPr/>
        </p:nvGrpSpPr>
        <p:grpSpPr>
          <a:xfrm>
            <a:off x="762000" y="1333500"/>
            <a:ext cx="6667500" cy="2190900"/>
            <a:chOff x="762000" y="1333500"/>
            <a:chExt cx="6667500" cy="2190900"/>
          </a:xfrm>
        </p:grpSpPr>
        <p:sp>
          <p:nvSpPr>
            <p:cNvPr id="247" name="Google Shape;247;p7"/>
            <p:cNvSpPr/>
            <p:nvPr/>
          </p:nvSpPr>
          <p:spPr>
            <a:xfrm>
              <a:off x="762000" y="1333500"/>
              <a:ext cx="6667500" cy="2190900"/>
            </a:xfrm>
            <a:prstGeom prst="roundRect">
              <a:avLst>
                <a:gd name="adj" fmla="val 695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48" name="Google Shape;248;p7"/>
            <p:cNvSpPr txBox="1"/>
            <p:nvPr/>
          </p:nvSpPr>
          <p:spPr>
            <a:xfrm>
              <a:off x="1047750" y="1524000"/>
              <a:ext cx="609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기능 요구사항</a:t>
              </a:r>
              <a:endParaRPr sz="1600" dirty="0"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1125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게시글 생성: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인스타그램 형태의 경로 기반 게시물 업로드</a:t>
              </a:r>
              <a:endParaRPr sz="15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소셜 기능: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공유, 북마크, 좋아요 등 커뮤니티 기능 제공</a:t>
              </a:r>
              <a:endParaRPr sz="15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게시물 삭제: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사용자 작성 콘텐츠 관리 기능</a:t>
              </a:r>
              <a:endParaRPr sz="15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7"/>
          <p:cNvGrpSpPr/>
          <p:nvPr/>
        </p:nvGrpSpPr>
        <p:grpSpPr>
          <a:xfrm>
            <a:off x="762000" y="3714750"/>
            <a:ext cx="6667500" cy="1905000"/>
            <a:chOff x="762000" y="3714750"/>
            <a:chExt cx="6667500" cy="1905000"/>
          </a:xfrm>
        </p:grpSpPr>
        <p:sp>
          <p:nvSpPr>
            <p:cNvPr id="250" name="Google Shape;250;p7"/>
            <p:cNvSpPr/>
            <p:nvPr/>
          </p:nvSpPr>
          <p:spPr>
            <a:xfrm>
              <a:off x="762000" y="3714750"/>
              <a:ext cx="6667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51" name="Google Shape;251;p7"/>
            <p:cNvSpPr txBox="1"/>
            <p:nvPr/>
          </p:nvSpPr>
          <p:spPr>
            <a:xfrm>
              <a:off x="1047750" y="3905250"/>
              <a:ext cx="609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 dirty="0" err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비기능</a:t>
              </a:r>
              <a:r>
                <a:rPr lang="ko-KR" sz="2000" b="1" dirty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 요구사항</a:t>
              </a:r>
              <a:endParaRPr sz="1600" dirty="0"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1125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이미지 변환: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경로 완성 후 자동 캡쳐 및 PNG 변환 기술 적용</a:t>
              </a:r>
              <a:endParaRPr sz="15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API 최적화: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카카오 API 토큰 활용 극대화 및 로딩 지연 방지</a:t>
              </a:r>
              <a:endParaRPr sz="15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7"/>
          <p:cNvSpPr txBox="1"/>
          <p:nvPr/>
        </p:nvSpPr>
        <p:spPr>
          <a:xfrm>
            <a:off x="762000" y="5905500"/>
            <a:ext cx="10668000" cy="6669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i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새로운 경로 데이터(GPX/KML 등)와 사진, 텍스트(해시태그 포함)를 결합하여 업로드</a:t>
            </a:r>
            <a:endParaRPr sz="1700" i="1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7"/>
          <p:cNvGrpSpPr/>
          <p:nvPr/>
        </p:nvGrpSpPr>
        <p:grpSpPr>
          <a:xfrm>
            <a:off x="8096250" y="1143000"/>
            <a:ext cx="3048000" cy="4667400"/>
            <a:chOff x="8096250" y="1143000"/>
            <a:chExt cx="3048000" cy="4667400"/>
          </a:xfrm>
        </p:grpSpPr>
        <p:sp>
          <p:nvSpPr>
            <p:cNvPr id="254" name="Google Shape;254;p7"/>
            <p:cNvSpPr/>
            <p:nvPr/>
          </p:nvSpPr>
          <p:spPr>
            <a:xfrm>
              <a:off x="8096250" y="1143000"/>
              <a:ext cx="3048000" cy="4667400"/>
            </a:xfrm>
            <a:prstGeom prst="roundRect">
              <a:avLst>
                <a:gd name="adj" fmla="val 14062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5" name="Google Shape;255;p7"/>
            <p:cNvPicPr preferRelativeResize="0"/>
            <p:nvPr/>
          </p:nvPicPr>
          <p:blipFill rotWithShape="1">
            <a:blip r:embed="rId4">
              <a:alphaModFix/>
            </a:blip>
            <a:srcRect l="70" r="60"/>
            <a:stretch/>
          </p:blipFill>
          <p:spPr>
            <a:xfrm>
              <a:off x="8191500" y="1238250"/>
              <a:ext cx="2857500" cy="44769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762000" y="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3. 핵심 내용 및 기능요구사항 기술</a:t>
            </a:r>
            <a:endParaRPr sz="16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경로 만들기</a:t>
            </a:r>
            <a:endParaRPr sz="34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8"/>
          <p:cNvGrpSpPr/>
          <p:nvPr/>
        </p:nvGrpSpPr>
        <p:grpSpPr>
          <a:xfrm>
            <a:off x="762000" y="1333500"/>
            <a:ext cx="6667500" cy="2190900"/>
            <a:chOff x="762000" y="1333500"/>
            <a:chExt cx="6667500" cy="2190900"/>
          </a:xfrm>
        </p:grpSpPr>
        <p:sp>
          <p:nvSpPr>
            <p:cNvPr id="265" name="Google Shape;265;p8"/>
            <p:cNvSpPr/>
            <p:nvPr/>
          </p:nvSpPr>
          <p:spPr>
            <a:xfrm>
              <a:off x="762000" y="1333500"/>
              <a:ext cx="6667500" cy="2190900"/>
            </a:xfrm>
            <a:prstGeom prst="roundRect">
              <a:avLst>
                <a:gd name="adj" fmla="val 695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66" name="Google Shape;266;p8"/>
            <p:cNvSpPr txBox="1"/>
            <p:nvPr/>
          </p:nvSpPr>
          <p:spPr>
            <a:xfrm>
              <a:off x="1047750" y="1524000"/>
              <a:ext cx="609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기능 요구사항</a:t>
              </a:r>
              <a:endParaRPr sz="22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23850" algn="l" rtl="0">
                <a:spcBef>
                  <a:spcPts val="1125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경로 생성: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직접 지점(</a:t>
              </a:r>
              <a:r>
                <a:rPr lang="ko-KR" sz="1500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Point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)을 연결하여 원하는 주행 경로 제작</a:t>
              </a:r>
              <a:endParaRPr sz="15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도로 확인: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자전거 도로 정보 </a:t>
              </a:r>
              <a:r>
                <a:rPr lang="ko-KR" sz="1500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On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ko-KR" sz="1500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Off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기능 제공</a:t>
              </a:r>
              <a:endParaRPr sz="15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투명도 조절: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자전거 레이어의 불투명도 커스터마이징</a:t>
              </a:r>
              <a:endParaRPr sz="15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8"/>
          <p:cNvGrpSpPr/>
          <p:nvPr/>
        </p:nvGrpSpPr>
        <p:grpSpPr>
          <a:xfrm>
            <a:off x="762000" y="3714750"/>
            <a:ext cx="6667500" cy="1905000"/>
            <a:chOff x="762000" y="3714750"/>
            <a:chExt cx="6667500" cy="1905000"/>
          </a:xfrm>
        </p:grpSpPr>
        <p:sp>
          <p:nvSpPr>
            <p:cNvPr id="268" name="Google Shape;268;p8"/>
            <p:cNvSpPr/>
            <p:nvPr/>
          </p:nvSpPr>
          <p:spPr>
            <a:xfrm>
              <a:off x="762000" y="3714750"/>
              <a:ext cx="6667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8"/>
            <p:cNvSpPr txBox="1"/>
            <p:nvPr/>
          </p:nvSpPr>
          <p:spPr>
            <a:xfrm>
              <a:off x="1047750" y="3905250"/>
              <a:ext cx="609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 dirty="0" err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비기능</a:t>
              </a:r>
              <a:r>
                <a:rPr lang="ko-KR" sz="2000" b="1" dirty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 요구사항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23850" algn="l" rtl="0">
                <a:spcBef>
                  <a:spcPts val="1125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데이터 활용: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DB 기반 경로 데이터 및 자전거 도로 기하 정보 매칭</a:t>
              </a:r>
              <a:endParaRPr sz="15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UI 제어: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1500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On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ko-KR" sz="1500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Off</a:t>
              </a:r>
              <a:r>
                <a:rPr lang="ko-KR" sz="150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조건에 따른 불투명도 조절 인터페이스 구현</a:t>
              </a:r>
              <a:endParaRPr sz="1500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8"/>
          <p:cNvGrpSpPr/>
          <p:nvPr/>
        </p:nvGrpSpPr>
        <p:grpSpPr>
          <a:xfrm>
            <a:off x="762000" y="5905500"/>
            <a:ext cx="10668000" cy="666900"/>
            <a:chOff x="762000" y="5905500"/>
            <a:chExt cx="10668000" cy="666900"/>
          </a:xfrm>
        </p:grpSpPr>
        <p:sp>
          <p:nvSpPr>
            <p:cNvPr id="271" name="Google Shape;271;p8"/>
            <p:cNvSpPr/>
            <p:nvPr/>
          </p:nvSpPr>
          <p:spPr>
            <a:xfrm>
              <a:off x="762000" y="5905500"/>
              <a:ext cx="10668000" cy="6669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8"/>
            <p:cNvSpPr txBox="1"/>
            <p:nvPr/>
          </p:nvSpPr>
          <p:spPr>
            <a:xfrm>
              <a:off x="762000" y="5905500"/>
              <a:ext cx="1066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i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공공기관 자전거도로 데이터 &amp; 카카오 지도 API 기반 시스템 구축</a:t>
              </a:r>
              <a:endParaRPr sz="1400" i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8"/>
          <p:cNvGrpSpPr/>
          <p:nvPr/>
        </p:nvGrpSpPr>
        <p:grpSpPr>
          <a:xfrm>
            <a:off x="8096250" y="1143000"/>
            <a:ext cx="3048000" cy="4667400"/>
            <a:chOff x="8096250" y="1143000"/>
            <a:chExt cx="3048000" cy="4667400"/>
          </a:xfrm>
        </p:grpSpPr>
        <p:sp>
          <p:nvSpPr>
            <p:cNvPr id="274" name="Google Shape;274;p8"/>
            <p:cNvSpPr/>
            <p:nvPr/>
          </p:nvSpPr>
          <p:spPr>
            <a:xfrm>
              <a:off x="8096250" y="1143000"/>
              <a:ext cx="3048000" cy="4667400"/>
            </a:xfrm>
            <a:prstGeom prst="roundRect">
              <a:avLst>
                <a:gd name="adj" fmla="val 14062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5" name="Google Shape;275;p8"/>
            <p:cNvPicPr preferRelativeResize="0"/>
            <p:nvPr/>
          </p:nvPicPr>
          <p:blipFill rotWithShape="1">
            <a:blip r:embed="rId4">
              <a:alphaModFix/>
            </a:blip>
            <a:srcRect t="10833" b="10833"/>
            <a:stretch/>
          </p:blipFill>
          <p:spPr>
            <a:xfrm>
              <a:off x="8191500" y="1238250"/>
              <a:ext cx="2857500" cy="44769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762000" y="0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3. 핵심 내용 및 기능요구사항 기술</a:t>
            </a:r>
            <a:endParaRPr sz="1400" b="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범위 설정 후 실시간 매칭</a:t>
            </a:r>
            <a:endParaRPr sz="32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9"/>
          <p:cNvGrpSpPr/>
          <p:nvPr/>
        </p:nvGrpSpPr>
        <p:grpSpPr>
          <a:xfrm>
            <a:off x="762000" y="1333500"/>
            <a:ext cx="6667650" cy="2190900"/>
            <a:chOff x="762000" y="1333500"/>
            <a:chExt cx="6667650" cy="2190900"/>
          </a:xfrm>
        </p:grpSpPr>
        <p:sp>
          <p:nvSpPr>
            <p:cNvPr id="284" name="Google Shape;284;p9"/>
            <p:cNvSpPr/>
            <p:nvPr/>
          </p:nvSpPr>
          <p:spPr>
            <a:xfrm>
              <a:off x="762000" y="1333500"/>
              <a:ext cx="6667500" cy="2190900"/>
            </a:xfrm>
            <a:prstGeom prst="roundRect">
              <a:avLst>
                <a:gd name="adj" fmla="val 695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85" name="Google Shape;285;p9"/>
            <p:cNvSpPr txBox="1"/>
            <p:nvPr/>
          </p:nvSpPr>
          <p:spPr>
            <a:xfrm>
              <a:off x="1047750" y="1524000"/>
              <a:ext cx="6381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기능 요구사항</a:t>
              </a:r>
              <a:endParaRPr sz="2600" b="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SzPts val="14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그룹 라이더 위치표시:</a:t>
              </a:r>
              <a:r>
                <a:rPr lang="ko-KR" sz="160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실시간 위치 공유 및 이탈 방지 알림 기능</a:t>
              </a:r>
              <a:endParaRPr sz="1600" dirty="0"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SzPts val="14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개인 라이더 위치표시:</a:t>
              </a:r>
              <a:r>
                <a:rPr lang="ko-KR" sz="160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반경(220m) 내 게시물 확인 및 최적 만남 동선 계산</a:t>
              </a:r>
              <a:endParaRPr sz="1600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Google Shape;286;p9"/>
          <p:cNvGrpSpPr/>
          <p:nvPr/>
        </p:nvGrpSpPr>
        <p:grpSpPr>
          <a:xfrm>
            <a:off x="762000" y="3714750"/>
            <a:ext cx="6667500" cy="1905000"/>
            <a:chOff x="762000" y="3714750"/>
            <a:chExt cx="6667500" cy="1905000"/>
          </a:xfrm>
        </p:grpSpPr>
        <p:sp>
          <p:nvSpPr>
            <p:cNvPr id="287" name="Google Shape;287;p9"/>
            <p:cNvSpPr/>
            <p:nvPr/>
          </p:nvSpPr>
          <p:spPr>
            <a:xfrm>
              <a:off x="762000" y="3714750"/>
              <a:ext cx="6667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88" name="Google Shape;288;p9"/>
            <p:cNvSpPr txBox="1"/>
            <p:nvPr/>
          </p:nvSpPr>
          <p:spPr>
            <a:xfrm>
              <a:off x="1047750" y="3905250"/>
              <a:ext cx="609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 dirty="0" err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비기능</a:t>
              </a:r>
              <a:r>
                <a:rPr lang="ko-KR" sz="2000" b="1" dirty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 요구사항</a:t>
              </a:r>
              <a:endParaRPr sz="2600" b="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SzPts val="1400"/>
                <a:buFont typeface="Arial"/>
                <a:buChar char="●"/>
              </a:pPr>
              <a:r>
                <a:rPr lang="ko-KR" sz="1500" b="1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지오펜싱</a:t>
              </a: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ko-KR" sz="1500" b="1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Geofencing</a:t>
              </a: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):</a:t>
              </a:r>
              <a:r>
                <a:rPr lang="ko-KR" sz="160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POSTGIS 활용 범위 지정 및 이탈 감지 알람</a:t>
              </a:r>
              <a:endParaRPr sz="1600" dirty="0"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SzPts val="1400"/>
                <a:buFont typeface="Arial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데이터 매칭:</a:t>
              </a:r>
              <a:r>
                <a:rPr lang="ko-KR" sz="160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설정 반경 내 실시간 탐색 및 즉각적인 매칭 알고리즘</a:t>
              </a:r>
              <a:endParaRPr sz="1600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9"/>
          <p:cNvGrpSpPr/>
          <p:nvPr/>
        </p:nvGrpSpPr>
        <p:grpSpPr>
          <a:xfrm>
            <a:off x="762000" y="5905500"/>
            <a:ext cx="10668000" cy="666900"/>
            <a:chOff x="762000" y="5905500"/>
            <a:chExt cx="10668000" cy="666900"/>
          </a:xfrm>
        </p:grpSpPr>
        <p:sp>
          <p:nvSpPr>
            <p:cNvPr id="290" name="Google Shape;290;p9"/>
            <p:cNvSpPr/>
            <p:nvPr/>
          </p:nvSpPr>
          <p:spPr>
            <a:xfrm>
              <a:off x="762000" y="5905500"/>
              <a:ext cx="10668000" cy="6669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9"/>
            <p:cNvSpPr txBox="1"/>
            <p:nvPr/>
          </p:nvSpPr>
          <p:spPr>
            <a:xfrm>
              <a:off x="762000" y="5905500"/>
              <a:ext cx="1066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i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설정 반경 내 라이더를 실시간으로 탐색해 즉각적인 동반 라이딩을 매칭하는 기능</a:t>
              </a:r>
              <a:endParaRPr sz="1500" i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9"/>
          <p:cNvGrpSpPr/>
          <p:nvPr/>
        </p:nvGrpSpPr>
        <p:grpSpPr>
          <a:xfrm>
            <a:off x="8096250" y="1143000"/>
            <a:ext cx="3048000" cy="4667400"/>
            <a:chOff x="8096250" y="1143000"/>
            <a:chExt cx="3048000" cy="4667400"/>
          </a:xfrm>
        </p:grpSpPr>
        <p:sp>
          <p:nvSpPr>
            <p:cNvPr id="293" name="Google Shape;293;p9"/>
            <p:cNvSpPr/>
            <p:nvPr/>
          </p:nvSpPr>
          <p:spPr>
            <a:xfrm>
              <a:off x="8096250" y="1143000"/>
              <a:ext cx="3048000" cy="4667400"/>
            </a:xfrm>
            <a:prstGeom prst="roundRect">
              <a:avLst>
                <a:gd name="adj" fmla="val 14062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4" name="Google Shape;294;p9"/>
            <p:cNvPicPr preferRelativeResize="0"/>
            <p:nvPr/>
          </p:nvPicPr>
          <p:blipFill rotWithShape="1">
            <a:blip r:embed="rId3">
              <a:alphaModFix/>
            </a:blip>
            <a:srcRect l="19366" r="19366"/>
            <a:stretch/>
          </p:blipFill>
          <p:spPr>
            <a:xfrm>
              <a:off x="8191500" y="1238250"/>
              <a:ext cx="2857500" cy="44769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0"/>
          <p:cNvSpPr txBox="1"/>
          <p:nvPr/>
        </p:nvSpPr>
        <p:spPr>
          <a:xfrm>
            <a:off x="762000" y="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3. 핵심 내용 및 기능요구사항 기술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목적 그룹 채팅방</a:t>
            </a:r>
            <a:endParaRPr sz="32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10"/>
          <p:cNvGrpSpPr/>
          <p:nvPr/>
        </p:nvGrpSpPr>
        <p:grpSpPr>
          <a:xfrm>
            <a:off x="762000" y="1333500"/>
            <a:ext cx="6667500" cy="2190900"/>
            <a:chOff x="762000" y="1333500"/>
            <a:chExt cx="6667500" cy="2190900"/>
          </a:xfrm>
        </p:grpSpPr>
        <p:sp>
          <p:nvSpPr>
            <p:cNvPr id="303" name="Google Shape;303;p10"/>
            <p:cNvSpPr/>
            <p:nvPr/>
          </p:nvSpPr>
          <p:spPr>
            <a:xfrm>
              <a:off x="762000" y="1333500"/>
              <a:ext cx="6667500" cy="2190900"/>
            </a:xfrm>
            <a:prstGeom prst="roundRect">
              <a:avLst>
                <a:gd name="adj" fmla="val 695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304" name="Google Shape;304;p10"/>
            <p:cNvSpPr txBox="1"/>
            <p:nvPr/>
          </p:nvSpPr>
          <p:spPr>
            <a:xfrm>
              <a:off x="1047750" y="1524000"/>
              <a:ext cx="60960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기능 요구사항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81000" algn="l" rtl="0">
                <a:spcBef>
                  <a:spcPts val="1125"/>
                </a:spcBef>
                <a:spcAft>
                  <a:spcPts val="0"/>
                </a:spcAft>
                <a:buClr>
                  <a:srgbClr val="3B82F6"/>
                </a:buClr>
                <a:buSzPts val="2400"/>
                <a:buFont typeface="Material Icons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커뮤니티 소통:</a:t>
              </a:r>
              <a:r>
                <a:rPr lang="ko-KR" sz="260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위치 기반 실시간 채팅으로 주변 </a:t>
              </a:r>
              <a:r>
                <a:rPr lang="ko-KR" sz="1500" b="0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라이더들과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소통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81000" algn="l" rtl="0">
                <a:spcBef>
                  <a:spcPts val="750"/>
                </a:spcBef>
                <a:spcAft>
                  <a:spcPts val="0"/>
                </a:spcAft>
                <a:buClr>
                  <a:srgbClr val="3B82F6"/>
                </a:buClr>
                <a:buSzPts val="2400"/>
                <a:buFont typeface="Material Icons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라이딩 매칭:</a:t>
              </a:r>
              <a:r>
                <a:rPr lang="ko-KR" sz="260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즉흥적인 동반 라이딩을 매칭하는 커뮤니티 공간 제공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05" name="Google Shape;305;p10"/>
          <p:cNvGrpSpPr/>
          <p:nvPr/>
        </p:nvGrpSpPr>
        <p:grpSpPr>
          <a:xfrm>
            <a:off x="762000" y="3714750"/>
            <a:ext cx="6667500" cy="1905000"/>
            <a:chOff x="762000" y="3714750"/>
            <a:chExt cx="6667500" cy="1905000"/>
          </a:xfrm>
        </p:grpSpPr>
        <p:sp>
          <p:nvSpPr>
            <p:cNvPr id="306" name="Google Shape;306;p10"/>
            <p:cNvSpPr/>
            <p:nvPr/>
          </p:nvSpPr>
          <p:spPr>
            <a:xfrm>
              <a:off x="762000" y="3714750"/>
              <a:ext cx="6667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307" name="Google Shape;307;p10"/>
            <p:cNvSpPr txBox="1"/>
            <p:nvPr/>
          </p:nvSpPr>
          <p:spPr>
            <a:xfrm>
              <a:off x="1047750" y="3905250"/>
              <a:ext cx="6096000" cy="15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 dirty="0" err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비기능</a:t>
              </a:r>
              <a:r>
                <a:rPr lang="ko-KR" sz="2000" b="1" dirty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 요구사항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81000" algn="l" rtl="0">
                <a:spcBef>
                  <a:spcPts val="1125"/>
                </a:spcBef>
                <a:spcAft>
                  <a:spcPts val="0"/>
                </a:spcAft>
                <a:buClr>
                  <a:srgbClr val="3B82F6"/>
                </a:buClr>
                <a:buSzPts val="2400"/>
                <a:buFont typeface="Material Icons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위치 기반 탐색:</a:t>
              </a:r>
              <a:r>
                <a:rPr lang="ko-KR" sz="260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사용자 현재 위치 중심의 실시간 데이터 필터링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81000" algn="l" rtl="0">
                <a:spcBef>
                  <a:spcPts val="750"/>
                </a:spcBef>
                <a:spcAft>
                  <a:spcPts val="0"/>
                </a:spcAft>
                <a:buClr>
                  <a:srgbClr val="3B82F6"/>
                </a:buClr>
                <a:buSzPts val="2400"/>
                <a:buFont typeface="Material Icons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매칭 알고리즘:</a:t>
              </a:r>
              <a:r>
                <a:rPr lang="ko-KR" sz="260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즉흥 매칭을 위한 고속 메시지 처리 및 알림 시스템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08" name="Google Shape;308;p10"/>
          <p:cNvGrpSpPr/>
          <p:nvPr/>
        </p:nvGrpSpPr>
        <p:grpSpPr>
          <a:xfrm>
            <a:off x="762000" y="5905500"/>
            <a:ext cx="10668000" cy="666900"/>
            <a:chOff x="762000" y="5905500"/>
            <a:chExt cx="10668000" cy="666900"/>
          </a:xfrm>
        </p:grpSpPr>
        <p:sp>
          <p:nvSpPr>
            <p:cNvPr id="309" name="Google Shape;309;p10"/>
            <p:cNvSpPr/>
            <p:nvPr/>
          </p:nvSpPr>
          <p:spPr>
            <a:xfrm>
              <a:off x="762000" y="5905500"/>
              <a:ext cx="10668000" cy="6669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0"/>
            <p:cNvSpPr txBox="1"/>
            <p:nvPr/>
          </p:nvSpPr>
          <p:spPr>
            <a:xfrm>
              <a:off x="762000" y="5905500"/>
              <a:ext cx="10668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i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위치 기반 실시간 채팅 및 즉흥적인 라이딩 매칭을 통한 활발한 라이딩 커뮤니티 구축</a:t>
              </a:r>
              <a:endParaRPr sz="1500" i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1" name="Google Shape;311;p10"/>
          <p:cNvPicPr preferRelativeResize="0"/>
          <p:nvPr/>
        </p:nvPicPr>
        <p:blipFill rotWithShape="1">
          <a:blip r:embed="rId4">
            <a:alphaModFix/>
          </a:blip>
          <a:srcRect t="13322" r="6594"/>
          <a:stretch/>
        </p:blipFill>
        <p:spPr>
          <a:xfrm>
            <a:off x="7534650" y="952500"/>
            <a:ext cx="4402525" cy="25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34650" y="3714750"/>
            <a:ext cx="4402526" cy="212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1"/>
          <p:cNvSpPr txBox="1"/>
          <p:nvPr/>
        </p:nvSpPr>
        <p:spPr>
          <a:xfrm>
            <a:off x="762000" y="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3. 핵심 내용 및 기능요구사항 기술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사용자 프로필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p11"/>
          <p:cNvGrpSpPr/>
          <p:nvPr/>
        </p:nvGrpSpPr>
        <p:grpSpPr>
          <a:xfrm>
            <a:off x="762037" y="1333500"/>
            <a:ext cx="7756970" cy="2190900"/>
            <a:chOff x="762000" y="1333500"/>
            <a:chExt cx="6667500" cy="2190900"/>
          </a:xfrm>
        </p:grpSpPr>
        <p:sp>
          <p:nvSpPr>
            <p:cNvPr id="322" name="Google Shape;322;p11"/>
            <p:cNvSpPr/>
            <p:nvPr/>
          </p:nvSpPr>
          <p:spPr>
            <a:xfrm>
              <a:off x="762000" y="1333500"/>
              <a:ext cx="6667500" cy="2190900"/>
            </a:xfrm>
            <a:prstGeom prst="roundRect">
              <a:avLst>
                <a:gd name="adj" fmla="val 695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323" name="Google Shape;323;p11"/>
            <p:cNvSpPr txBox="1"/>
            <p:nvPr/>
          </p:nvSpPr>
          <p:spPr>
            <a:xfrm>
              <a:off x="1047750" y="1524000"/>
              <a:ext cx="609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 dirty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기능 요구사항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81000" algn="l" rtl="0">
                <a:spcBef>
                  <a:spcPts val="750"/>
                </a:spcBef>
                <a:spcAft>
                  <a:spcPts val="0"/>
                </a:spcAft>
                <a:buClr>
                  <a:srgbClr val="3B82F6"/>
                </a:buClr>
                <a:buSzPts val="2400"/>
                <a:buFont typeface="Material Icons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활동 통계 제공:</a:t>
              </a:r>
              <a:r>
                <a:rPr lang="ko-KR" sz="260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자전거 주행 거리, 고도, 시간 등 개인 데이터 시각화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81000" algn="l" rtl="0">
                <a:spcBef>
                  <a:spcPts val="600"/>
                </a:spcBef>
                <a:spcAft>
                  <a:spcPts val="0"/>
                </a:spcAft>
                <a:buClr>
                  <a:srgbClr val="3B82F6"/>
                </a:buClr>
                <a:buSzPts val="2400"/>
                <a:buFont typeface="Material Icons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나의 경로 관리:</a:t>
              </a:r>
              <a:r>
                <a:rPr lang="ko-KR" sz="260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'경로 </a:t>
              </a:r>
              <a:r>
                <a:rPr lang="ko-KR" sz="1500" b="0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만들기'를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통해 생성된 개인 경로 목록 조회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81000" algn="l" rtl="0">
                <a:spcBef>
                  <a:spcPts val="600"/>
                </a:spcBef>
                <a:spcAft>
                  <a:spcPts val="0"/>
                </a:spcAft>
                <a:buClr>
                  <a:srgbClr val="3B82F6"/>
                </a:buClr>
                <a:buSzPts val="2400"/>
                <a:buFont typeface="Material Icons"/>
                <a:buChar char="●"/>
              </a:pPr>
              <a:r>
                <a:rPr lang="ko-KR" sz="15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경로 북마크:</a:t>
              </a:r>
              <a:r>
                <a:rPr lang="ko-KR" sz="260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lang="ko-KR" sz="1500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타 사용자의 유용한 라이딩 경로 저장 및 관리</a:t>
              </a:r>
              <a:endParaRPr sz="2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24" name="Google Shape;324;p11"/>
          <p:cNvGrpSpPr/>
          <p:nvPr/>
        </p:nvGrpSpPr>
        <p:grpSpPr>
          <a:xfrm>
            <a:off x="761972" y="3714750"/>
            <a:ext cx="7756656" cy="1905000"/>
            <a:chOff x="762000" y="3714750"/>
            <a:chExt cx="7317600" cy="1905000"/>
          </a:xfrm>
        </p:grpSpPr>
        <p:sp>
          <p:nvSpPr>
            <p:cNvPr id="325" name="Google Shape;325;p11"/>
            <p:cNvSpPr/>
            <p:nvPr/>
          </p:nvSpPr>
          <p:spPr>
            <a:xfrm>
              <a:off x="762000" y="3714750"/>
              <a:ext cx="73176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326" name="Google Shape;326;p11"/>
            <p:cNvSpPr txBox="1"/>
            <p:nvPr/>
          </p:nvSpPr>
          <p:spPr>
            <a:xfrm>
              <a:off x="1047750" y="3905250"/>
              <a:ext cx="6096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730" b="1" dirty="0" err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비기능</a:t>
              </a:r>
              <a:r>
                <a:rPr lang="ko-KR" sz="1730" b="1" dirty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 요구사항</a:t>
              </a:r>
              <a:endParaRPr sz="224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58140" algn="l" rtl="0">
                <a:spcBef>
                  <a:spcPts val="750"/>
                </a:spcBef>
                <a:spcAft>
                  <a:spcPts val="0"/>
                </a:spcAft>
                <a:buClr>
                  <a:srgbClr val="3B82F6"/>
                </a:buClr>
                <a:buSzPts val="2040"/>
                <a:buFont typeface="Material Icons"/>
                <a:buChar char="●"/>
              </a:pPr>
              <a:r>
                <a:rPr lang="ko-KR" sz="1305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지리 데이터 최적화:</a:t>
              </a:r>
              <a:r>
                <a:rPr lang="ko-KR" sz="224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lang="ko-KR" sz="1305" b="0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PostGIS</a:t>
              </a:r>
              <a:r>
                <a:rPr lang="ko-KR" sz="1305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패키지를 활용한 전문적인 지리 정보 데이터베이스 구축</a:t>
              </a:r>
              <a:endParaRPr sz="224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58140" algn="l" rtl="0">
                <a:spcBef>
                  <a:spcPts val="600"/>
                </a:spcBef>
                <a:spcAft>
                  <a:spcPts val="0"/>
                </a:spcAft>
                <a:buClr>
                  <a:srgbClr val="3B82F6"/>
                </a:buClr>
                <a:buSzPts val="2040"/>
                <a:buFont typeface="Material Icons"/>
                <a:buChar char="●"/>
              </a:pPr>
              <a:r>
                <a:rPr lang="ko-KR" sz="1305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라이딩 기록 영속성:</a:t>
              </a:r>
              <a:r>
                <a:rPr lang="ko-KR" sz="224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lang="ko-KR" sz="1305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총 라이딩 기록 및 북마크 경로의 안정적인 DB 저장</a:t>
              </a:r>
              <a:endParaRPr sz="224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457200" lvl="0" indent="-358140" algn="l" rtl="0">
                <a:spcBef>
                  <a:spcPts val="600"/>
                </a:spcBef>
                <a:spcAft>
                  <a:spcPts val="0"/>
                </a:spcAft>
                <a:buClr>
                  <a:srgbClr val="3B82F6"/>
                </a:buClr>
                <a:buSzPts val="2040"/>
                <a:buFont typeface="Material Icons"/>
                <a:buChar char="●"/>
              </a:pPr>
              <a:r>
                <a:rPr lang="ko-KR" sz="1305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개인화 데이터 매칭:</a:t>
              </a:r>
              <a:r>
                <a:rPr lang="ko-KR" sz="224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 </a:t>
              </a:r>
              <a:r>
                <a:rPr lang="ko-KR" sz="1305" b="0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저장된 데이터를 해당 사용자와 연결하여 실시간 동기화 및 제공</a:t>
              </a:r>
              <a:endParaRPr sz="224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27" name="Google Shape;327;p11"/>
          <p:cNvGrpSpPr/>
          <p:nvPr/>
        </p:nvGrpSpPr>
        <p:grpSpPr>
          <a:xfrm>
            <a:off x="762000" y="5905500"/>
            <a:ext cx="10668000" cy="666900"/>
            <a:chOff x="762000" y="5905500"/>
            <a:chExt cx="10668000" cy="666900"/>
          </a:xfrm>
        </p:grpSpPr>
        <p:sp>
          <p:nvSpPr>
            <p:cNvPr id="328" name="Google Shape;328;p11"/>
            <p:cNvSpPr/>
            <p:nvPr/>
          </p:nvSpPr>
          <p:spPr>
            <a:xfrm>
              <a:off x="762000" y="5905500"/>
              <a:ext cx="10668000" cy="6669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1"/>
            <p:cNvSpPr txBox="1"/>
            <p:nvPr/>
          </p:nvSpPr>
          <p:spPr>
            <a:xfrm>
              <a:off x="762000" y="5905500"/>
              <a:ext cx="1066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i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PostGIS 기반의 정밀한 지리 정보를 활용하여 개인 라이딩 통계와 경로를 효율적으로 관리하는 시스템</a:t>
              </a:r>
              <a:endParaRPr sz="1500" i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0" name="Google Shape;330;p11"/>
          <p:cNvPicPr preferRelativeResize="0"/>
          <p:nvPr/>
        </p:nvPicPr>
        <p:blipFill rotWithShape="1">
          <a:blip r:embed="rId4">
            <a:alphaModFix/>
          </a:blip>
          <a:srcRect r="19387"/>
          <a:stretch/>
        </p:blipFill>
        <p:spPr>
          <a:xfrm>
            <a:off x="8639700" y="1125075"/>
            <a:ext cx="2992725" cy="44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2"/>
          <p:cNvSpPr txBox="1"/>
          <p:nvPr/>
        </p:nvSpPr>
        <p:spPr>
          <a:xfrm>
            <a:off x="762000" y="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4. 필요성 및 기대 효과 도출</a:t>
            </a:r>
            <a:endParaRPr sz="1400" b="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사용자 페르소나 및 니즈 분석</a:t>
            </a:r>
            <a:endParaRPr sz="1400" b="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8" name="Google Shape;338;p12"/>
          <p:cNvGrpSpPr/>
          <p:nvPr/>
        </p:nvGrpSpPr>
        <p:grpSpPr>
          <a:xfrm>
            <a:off x="762000" y="1190625"/>
            <a:ext cx="10668000" cy="1143000"/>
            <a:chOff x="762000" y="1190625"/>
            <a:chExt cx="10668000" cy="1143000"/>
          </a:xfrm>
        </p:grpSpPr>
        <p:sp>
          <p:nvSpPr>
            <p:cNvPr id="339" name="Google Shape;339;p12"/>
            <p:cNvSpPr/>
            <p:nvPr/>
          </p:nvSpPr>
          <p:spPr>
            <a:xfrm>
              <a:off x="762000" y="1190625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2"/>
            <p:cNvSpPr/>
            <p:nvPr/>
          </p:nvSpPr>
          <p:spPr>
            <a:xfrm>
              <a:off x="1000125" y="1428750"/>
              <a:ext cx="666900" cy="6669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2"/>
            <p:cNvSpPr txBox="1"/>
            <p:nvPr/>
          </p:nvSpPr>
          <p:spPr>
            <a:xfrm>
              <a:off x="1000125" y="1428750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KM</a:t>
              </a:r>
              <a:endPara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2"/>
            <p:cNvSpPr txBox="1"/>
            <p:nvPr/>
          </p:nvSpPr>
          <p:spPr>
            <a:xfrm>
              <a:off x="1857375" y="1381125"/>
              <a:ext cx="38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김민준 (28세)</a:t>
              </a:r>
              <a:endParaRPr sz="2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IT 회사 개발자 • 서울 마포구 거주</a:t>
              </a:r>
              <a:endParaRPr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2"/>
            <p:cNvSpPr/>
            <p:nvPr/>
          </p:nvSpPr>
          <p:spPr>
            <a:xfrm>
              <a:off x="9906000" y="1381125"/>
              <a:ext cx="1333500" cy="3810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2"/>
            <p:cNvSpPr txBox="1"/>
            <p:nvPr/>
          </p:nvSpPr>
          <p:spPr>
            <a:xfrm>
              <a:off x="9906000" y="1381125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주말 로드 라이더</a:t>
              </a:r>
              <a:endParaRPr sz="1100" b="1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12"/>
          <p:cNvGrpSpPr/>
          <p:nvPr/>
        </p:nvGrpSpPr>
        <p:grpSpPr>
          <a:xfrm>
            <a:off x="762000" y="2476500"/>
            <a:ext cx="5238900" cy="2286000"/>
            <a:chOff x="762000" y="2476500"/>
            <a:chExt cx="5238900" cy="2286000"/>
          </a:xfrm>
        </p:grpSpPr>
        <p:sp>
          <p:nvSpPr>
            <p:cNvPr id="346" name="Google Shape;346;p12"/>
            <p:cNvSpPr/>
            <p:nvPr/>
          </p:nvSpPr>
          <p:spPr>
            <a:xfrm>
              <a:off x="762000" y="2476500"/>
              <a:ext cx="5238900" cy="22860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347" name="Google Shape;347;p12"/>
            <p:cNvSpPr txBox="1"/>
            <p:nvPr/>
          </p:nvSpPr>
          <p:spPr>
            <a:xfrm>
              <a:off x="1047750" y="2667000"/>
              <a:ext cx="4667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배경</a:t>
              </a:r>
              <a:endParaRPr sz="2000" b="1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로드바이크 2년차 - 주말마다 한강 라이딩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혼자 타는 게 외롭고 정보를 찾기 어려움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스마트 워치 활용 - 건강 데이터 기록 관심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SNS에서 코스 찾지만 정보가 너무 분산됨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12"/>
          <p:cNvGrpSpPr/>
          <p:nvPr/>
        </p:nvGrpSpPr>
        <p:grpSpPr>
          <a:xfrm>
            <a:off x="6191250" y="2476500"/>
            <a:ext cx="5238900" cy="2286000"/>
            <a:chOff x="6191250" y="2476500"/>
            <a:chExt cx="5238900" cy="2286000"/>
          </a:xfrm>
        </p:grpSpPr>
        <p:sp>
          <p:nvSpPr>
            <p:cNvPr id="349" name="Google Shape;349;p12"/>
            <p:cNvSpPr/>
            <p:nvPr/>
          </p:nvSpPr>
          <p:spPr>
            <a:xfrm>
              <a:off x="6191250" y="2476500"/>
              <a:ext cx="5238900" cy="2286000"/>
            </a:xfrm>
            <a:prstGeom prst="roundRect">
              <a:avLst>
                <a:gd name="adj" fmla="val 6666"/>
              </a:avLst>
            </a:prstGeom>
            <a:solidFill>
              <a:srgbClr val="FFF1F2"/>
            </a:solidFill>
            <a:ln w="9525" cap="flat" cmpd="sng">
              <a:solidFill>
                <a:srgbClr val="FDA4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350" name="Google Shape;350;p12"/>
            <p:cNvSpPr txBox="1"/>
            <p:nvPr/>
          </p:nvSpPr>
          <p:spPr>
            <a:xfrm>
              <a:off x="6477000" y="2667000"/>
              <a:ext cx="4667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E11D48"/>
                  </a:solidFill>
                  <a:latin typeface="Arial"/>
                  <a:ea typeface="Arial"/>
                  <a:cs typeface="Arial"/>
                  <a:sym typeface="Arial"/>
                </a:rPr>
                <a:t>불편한 점</a:t>
              </a:r>
              <a:endParaRPr sz="2000" b="1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좋은 코스 정보가 블로그/카페/SNS에 흩어져 있음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같이 달릴 사람을 구하는 게 번거로움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도로 상태나 펑크 위험 구간을 미리 알 수 없음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라이딩 기록이 여러 앱에 분산되어 있음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" name="Google Shape;351;p12"/>
          <p:cNvGrpSpPr/>
          <p:nvPr/>
        </p:nvGrpSpPr>
        <p:grpSpPr>
          <a:xfrm>
            <a:off x="762000" y="4905375"/>
            <a:ext cx="10668000" cy="952500"/>
            <a:chOff x="762000" y="4905375"/>
            <a:chExt cx="10668000" cy="952500"/>
          </a:xfrm>
        </p:grpSpPr>
        <p:sp>
          <p:nvSpPr>
            <p:cNvPr id="352" name="Google Shape;352;p12"/>
            <p:cNvSpPr/>
            <p:nvPr/>
          </p:nvSpPr>
          <p:spPr>
            <a:xfrm>
              <a:off x="762000" y="4905375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2"/>
            <p:cNvSpPr txBox="1"/>
            <p:nvPr/>
          </p:nvSpPr>
          <p:spPr>
            <a:xfrm>
              <a:off x="762000" y="490537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주 2회</a:t>
              </a:r>
              <a:endParaRPr sz="2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라이딩 빈도</a:t>
              </a:r>
              <a:endPara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2"/>
            <p:cNvSpPr/>
            <p:nvPr/>
          </p:nvSpPr>
          <p:spPr>
            <a:xfrm>
              <a:off x="4381500" y="4905375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2"/>
            <p:cNvSpPr txBox="1"/>
            <p:nvPr/>
          </p:nvSpPr>
          <p:spPr>
            <a:xfrm>
              <a:off x="4381500" y="490537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40km</a:t>
              </a:r>
              <a:endParaRPr sz="2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평균 라이딩 거리</a:t>
              </a:r>
              <a:endPara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>
              <a:off x="8001000" y="4905375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2"/>
            <p:cNvSpPr txBox="1"/>
            <p:nvPr/>
          </p:nvSpPr>
          <p:spPr>
            <a:xfrm>
              <a:off x="8001000" y="490537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로드</a:t>
              </a:r>
              <a:endParaRPr sz="2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자전거 종류</a:t>
              </a:r>
              <a:endPara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12"/>
          <p:cNvGrpSpPr/>
          <p:nvPr/>
        </p:nvGrpSpPr>
        <p:grpSpPr>
          <a:xfrm>
            <a:off x="762000" y="6000750"/>
            <a:ext cx="10668000" cy="666900"/>
            <a:chOff x="762000" y="6000750"/>
            <a:chExt cx="10668000" cy="666900"/>
          </a:xfrm>
        </p:grpSpPr>
        <p:sp>
          <p:nvSpPr>
            <p:cNvPr id="359" name="Google Shape;359;p12"/>
            <p:cNvSpPr/>
            <p:nvPr/>
          </p:nvSpPr>
          <p:spPr>
            <a:xfrm>
              <a:off x="762000" y="6000750"/>
              <a:ext cx="10668000" cy="666900"/>
            </a:xfrm>
            <a:prstGeom prst="roundRect">
              <a:avLst>
                <a:gd name="adj" fmla="val 17142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2"/>
            <p:cNvSpPr txBox="1"/>
            <p:nvPr/>
          </p:nvSpPr>
          <p:spPr>
            <a:xfrm>
              <a:off x="952500" y="6000750"/>
              <a:ext cx="1028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i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"한 곳에서 코스 정보를 보고, 마음 맞는 사람들과 함께 달리고 싶어요. 내 기록도 체계적으로 관리하고 싶고요."</a:t>
              </a:r>
              <a:endParaRPr sz="1500" i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7" name="Google Shape;367;p13"/>
          <p:cNvGrpSpPr/>
          <p:nvPr/>
        </p:nvGrpSpPr>
        <p:grpSpPr>
          <a:xfrm>
            <a:off x="762000" y="1190625"/>
            <a:ext cx="10668000" cy="1143000"/>
            <a:chOff x="762000" y="1190625"/>
            <a:chExt cx="10668000" cy="1143000"/>
          </a:xfrm>
        </p:grpSpPr>
        <p:sp>
          <p:nvSpPr>
            <p:cNvPr id="368" name="Google Shape;368;p13"/>
            <p:cNvSpPr/>
            <p:nvPr/>
          </p:nvSpPr>
          <p:spPr>
            <a:xfrm>
              <a:off x="762000" y="1190625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1000125" y="1428750"/>
              <a:ext cx="666900" cy="6669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3"/>
            <p:cNvSpPr txBox="1"/>
            <p:nvPr/>
          </p:nvSpPr>
          <p:spPr>
            <a:xfrm>
              <a:off x="1000125" y="1428750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LS</a:t>
              </a:r>
              <a:endPara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3"/>
            <p:cNvSpPr txBox="1"/>
            <p:nvPr/>
          </p:nvSpPr>
          <p:spPr>
            <a:xfrm>
              <a:off x="1857375" y="1381125"/>
              <a:ext cx="38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이수진 (34세)</a:t>
              </a:r>
              <a:endParaRPr sz="2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초등학교 교사 • 경기도 고양시 거주</a:t>
              </a:r>
              <a:endParaRPr sz="14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9715500" y="1381125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rgbClr val="ECFD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 txBox="1"/>
            <p:nvPr/>
          </p:nvSpPr>
          <p:spPr>
            <a:xfrm>
              <a:off x="9715500" y="13811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 b="1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MTB 동호회 운영자</a:t>
              </a:r>
              <a:endParaRPr sz="1100" b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13"/>
          <p:cNvGrpSpPr/>
          <p:nvPr/>
        </p:nvGrpSpPr>
        <p:grpSpPr>
          <a:xfrm>
            <a:off x="762000" y="2476500"/>
            <a:ext cx="5238900" cy="2190900"/>
            <a:chOff x="762000" y="2476500"/>
            <a:chExt cx="5238900" cy="2190900"/>
          </a:xfrm>
        </p:grpSpPr>
        <p:sp>
          <p:nvSpPr>
            <p:cNvPr id="375" name="Google Shape;375;p13"/>
            <p:cNvSpPr/>
            <p:nvPr/>
          </p:nvSpPr>
          <p:spPr>
            <a:xfrm>
              <a:off x="762000" y="2476500"/>
              <a:ext cx="5238900" cy="2190900"/>
            </a:xfrm>
            <a:prstGeom prst="roundRect">
              <a:avLst>
                <a:gd name="adj" fmla="val 695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376" name="Google Shape;376;p13"/>
            <p:cNvSpPr txBox="1"/>
            <p:nvPr/>
          </p:nvSpPr>
          <p:spPr>
            <a:xfrm>
              <a:off x="1047750" y="2714625"/>
              <a:ext cx="4667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배경</a:t>
              </a:r>
              <a:endParaRPr sz="2000" b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1125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MTB 동호회 운영 4년차 - 회원 12명 관리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주말 산악 라이딩 정기 모임 주선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카카오톡 단톡방으로 모임 관리 중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코스 기록을 메모장/사진으로 보관 중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13"/>
          <p:cNvGrpSpPr/>
          <p:nvPr/>
        </p:nvGrpSpPr>
        <p:grpSpPr>
          <a:xfrm>
            <a:off x="6191250" y="2476500"/>
            <a:ext cx="5238900" cy="2190900"/>
            <a:chOff x="6191250" y="2476500"/>
            <a:chExt cx="5238900" cy="2190900"/>
          </a:xfrm>
        </p:grpSpPr>
        <p:sp>
          <p:nvSpPr>
            <p:cNvPr id="378" name="Google Shape;378;p13"/>
            <p:cNvSpPr/>
            <p:nvPr/>
          </p:nvSpPr>
          <p:spPr>
            <a:xfrm>
              <a:off x="6191250" y="2476500"/>
              <a:ext cx="5238900" cy="2190900"/>
            </a:xfrm>
            <a:prstGeom prst="roundRect">
              <a:avLst>
                <a:gd name="adj" fmla="val 6956"/>
              </a:avLst>
            </a:prstGeom>
            <a:solidFill>
              <a:srgbClr val="FFF1F2"/>
            </a:solidFill>
            <a:ln w="9525" cap="flat" cmpd="sng">
              <a:solidFill>
                <a:srgbClr val="FDA4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379" name="Google Shape;379;p13"/>
            <p:cNvSpPr txBox="1"/>
            <p:nvPr/>
          </p:nvSpPr>
          <p:spPr>
            <a:xfrm>
              <a:off x="6477000" y="2714625"/>
              <a:ext cx="4667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E11D48"/>
                  </a:solidFill>
                  <a:latin typeface="Arial"/>
                  <a:ea typeface="Arial"/>
                  <a:cs typeface="Arial"/>
                  <a:sym typeface="Arial"/>
                </a:rPr>
                <a:t>불편한 점</a:t>
              </a:r>
              <a:endParaRPr sz="2000" b="1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1125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모임 일정/장소/참여자가 카톡으로 너무 불편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출석 체크를 일일이 수동으로 확인해야 함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새 코스를 공유해도 일관된 형식이 없어 보기 불편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라이딩 중 뒤처진 회원을 파악하기 어려움</a:t>
              </a:r>
              <a:endParaRPr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0" name="Google Shape;380;p13"/>
          <p:cNvGrpSpPr/>
          <p:nvPr/>
        </p:nvGrpSpPr>
        <p:grpSpPr>
          <a:xfrm>
            <a:off x="762000" y="4810125"/>
            <a:ext cx="10668000" cy="952500"/>
            <a:chOff x="762000" y="4810125"/>
            <a:chExt cx="10668000" cy="952500"/>
          </a:xfrm>
        </p:grpSpPr>
        <p:sp>
          <p:nvSpPr>
            <p:cNvPr id="381" name="Google Shape;381;p13"/>
            <p:cNvSpPr/>
            <p:nvPr/>
          </p:nvSpPr>
          <p:spPr>
            <a:xfrm>
              <a:off x="762000" y="4810125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3"/>
            <p:cNvSpPr txBox="1"/>
            <p:nvPr/>
          </p:nvSpPr>
          <p:spPr>
            <a:xfrm>
              <a:off x="762000" y="481012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주 1회</a:t>
              </a:r>
              <a:endParaRPr sz="2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모임 빈도</a:t>
              </a:r>
              <a:endPara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4381500" y="4810125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3"/>
            <p:cNvSpPr txBox="1"/>
            <p:nvPr/>
          </p:nvSpPr>
          <p:spPr>
            <a:xfrm>
              <a:off x="4381500" y="481012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25km</a:t>
              </a:r>
              <a:endParaRPr sz="2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평균 라이딩 거리</a:t>
              </a:r>
              <a:endPara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8001000" y="4810125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 txBox="1"/>
            <p:nvPr/>
          </p:nvSpPr>
          <p:spPr>
            <a:xfrm>
              <a:off x="8001000" y="481012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MTB</a:t>
              </a:r>
              <a:endParaRPr sz="2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자전거 종류</a:t>
              </a:r>
              <a:endPara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p13"/>
          <p:cNvGrpSpPr/>
          <p:nvPr/>
        </p:nvGrpSpPr>
        <p:grpSpPr>
          <a:xfrm>
            <a:off x="762000" y="5905500"/>
            <a:ext cx="10668000" cy="666900"/>
            <a:chOff x="762000" y="5905500"/>
            <a:chExt cx="10668000" cy="666900"/>
          </a:xfrm>
        </p:grpSpPr>
        <p:sp>
          <p:nvSpPr>
            <p:cNvPr id="388" name="Google Shape;388;p13"/>
            <p:cNvSpPr/>
            <p:nvPr/>
          </p:nvSpPr>
          <p:spPr>
            <a:xfrm>
              <a:off x="762000" y="5905500"/>
              <a:ext cx="10668000" cy="666900"/>
            </a:xfrm>
            <a:prstGeom prst="roundRect">
              <a:avLst>
                <a:gd name="adj" fmla="val 17142"/>
              </a:avLst>
            </a:prstGeom>
            <a:solidFill>
              <a:srgbClr val="ECFD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 txBox="1"/>
            <p:nvPr/>
          </p:nvSpPr>
          <p:spPr>
            <a:xfrm>
              <a:off x="952500" y="5905500"/>
              <a:ext cx="1028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i="1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rPr>
                <a:t>"모임 인원 관리, 출석 체크, 코스 공유를 카톡 말고 앱에서 깔끔하게 하고 싶어요. 라이딩 중에도 회원 위치를 지도에서 볼 수 있으면 좋겠어요."</a:t>
              </a:r>
              <a:endParaRPr sz="1500" i="1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13"/>
          <p:cNvSpPr txBox="1"/>
          <p:nvPr/>
        </p:nvSpPr>
        <p:spPr>
          <a:xfrm>
            <a:off x="762000" y="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4. 필요성 및 기대 효과 도출</a:t>
            </a:r>
            <a:endParaRPr sz="1400" b="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사용자 페르소나 및 니즈 분석</a:t>
            </a:r>
            <a:endParaRPr sz="1400" b="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4"/>
          <p:cNvSpPr txBox="1"/>
          <p:nvPr/>
        </p:nvSpPr>
        <p:spPr>
          <a:xfrm>
            <a:off x="762000" y="0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4. 필요성 및 기대 효과 도출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사용자 페르소나 및 니즈 분석</a:t>
            </a:r>
            <a:endParaRPr sz="32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8" name="Google Shape;398;p14"/>
          <p:cNvGrpSpPr/>
          <p:nvPr/>
        </p:nvGrpSpPr>
        <p:grpSpPr>
          <a:xfrm>
            <a:off x="762000" y="1190625"/>
            <a:ext cx="10668000" cy="1143000"/>
            <a:chOff x="762000" y="1190625"/>
            <a:chExt cx="10668000" cy="1143000"/>
          </a:xfrm>
        </p:grpSpPr>
        <p:sp>
          <p:nvSpPr>
            <p:cNvPr id="399" name="Google Shape;399;p14"/>
            <p:cNvSpPr/>
            <p:nvPr/>
          </p:nvSpPr>
          <p:spPr>
            <a:xfrm>
              <a:off x="762000" y="1190625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1000125" y="1428750"/>
              <a:ext cx="666900" cy="6669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4"/>
            <p:cNvSpPr txBox="1"/>
            <p:nvPr/>
          </p:nvSpPr>
          <p:spPr>
            <a:xfrm>
              <a:off x="1000125" y="1428750"/>
              <a:ext cx="66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PJ</a:t>
              </a:r>
              <a:endPara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4"/>
            <p:cNvSpPr txBox="1"/>
            <p:nvPr/>
          </p:nvSpPr>
          <p:spPr>
            <a:xfrm>
              <a:off x="1857375" y="1381125"/>
              <a:ext cx="38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2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박지효 (22세)</a:t>
              </a:r>
              <a:endParaRPr sz="2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대학교 3학년 • 서울 성북구 거주</a:t>
              </a:r>
              <a:endParaRPr sz="14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9715500" y="1381125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4"/>
            <p:cNvSpPr txBox="1"/>
            <p:nvPr/>
          </p:nvSpPr>
          <p:spPr>
            <a:xfrm>
              <a:off x="9715500" y="1381125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 b="1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도시형 생활 라이더</a:t>
              </a:r>
              <a:endParaRPr sz="1100" b="1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" name="Google Shape;405;p14"/>
          <p:cNvGrpSpPr/>
          <p:nvPr/>
        </p:nvGrpSpPr>
        <p:grpSpPr>
          <a:xfrm>
            <a:off x="762000" y="2476500"/>
            <a:ext cx="5238900" cy="2190900"/>
            <a:chOff x="762000" y="2476500"/>
            <a:chExt cx="5238900" cy="2190900"/>
          </a:xfrm>
        </p:grpSpPr>
        <p:sp>
          <p:nvSpPr>
            <p:cNvPr id="406" name="Google Shape;406;p14"/>
            <p:cNvSpPr/>
            <p:nvPr/>
          </p:nvSpPr>
          <p:spPr>
            <a:xfrm>
              <a:off x="762000" y="2476500"/>
              <a:ext cx="5238900" cy="2190900"/>
            </a:xfrm>
            <a:prstGeom prst="roundRect">
              <a:avLst>
                <a:gd name="adj" fmla="val 695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407" name="Google Shape;407;p14"/>
            <p:cNvSpPr txBox="1"/>
            <p:nvPr/>
          </p:nvSpPr>
          <p:spPr>
            <a:xfrm>
              <a:off x="1047750" y="2714625"/>
              <a:ext cx="4667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rPr>
                <a:t>배경</a:t>
              </a:r>
              <a:endParaRPr sz="2000" b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통학/카페 이동 등 생활형 자전거 이용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최근 자전거 커뮤니티에 관심 생김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SNS에서 라이딩 사진 보는 즐거움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자전거 지식은 부족하지만 열정은 높음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8" name="Google Shape;408;p14"/>
          <p:cNvGrpSpPr/>
          <p:nvPr/>
        </p:nvGrpSpPr>
        <p:grpSpPr>
          <a:xfrm>
            <a:off x="6191250" y="2476500"/>
            <a:ext cx="5238900" cy="2190900"/>
            <a:chOff x="6191250" y="2476500"/>
            <a:chExt cx="5238900" cy="2190900"/>
          </a:xfrm>
        </p:grpSpPr>
        <p:sp>
          <p:nvSpPr>
            <p:cNvPr id="409" name="Google Shape;409;p14"/>
            <p:cNvSpPr/>
            <p:nvPr/>
          </p:nvSpPr>
          <p:spPr>
            <a:xfrm>
              <a:off x="6191250" y="2476500"/>
              <a:ext cx="5238900" cy="2190900"/>
            </a:xfrm>
            <a:prstGeom prst="roundRect">
              <a:avLst>
                <a:gd name="adj" fmla="val 6956"/>
              </a:avLst>
            </a:prstGeom>
            <a:solidFill>
              <a:srgbClr val="FFF1F2"/>
            </a:solidFill>
            <a:ln w="9525" cap="flat" cmpd="sng">
              <a:solidFill>
                <a:srgbClr val="FDA4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410" name="Google Shape;410;p14"/>
            <p:cNvSpPr txBox="1"/>
            <p:nvPr/>
          </p:nvSpPr>
          <p:spPr>
            <a:xfrm>
              <a:off x="6477000" y="2714625"/>
              <a:ext cx="4667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E11D48"/>
                  </a:solidFill>
                  <a:latin typeface="Arial"/>
                  <a:ea typeface="Arial"/>
                  <a:cs typeface="Arial"/>
                  <a:sym typeface="Arial"/>
                </a:rPr>
                <a:t>불편한 점</a:t>
              </a:r>
              <a:endParaRPr sz="2000" b="1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초보자에게 맞는 코스 정보가 거의 없음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자전거 정비/용품 정보를 어디서 봐야 할지 모름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혼자 타다 보니 금방 지루해지고 동기부여가 떨어짐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23850" algn="l" rtl="0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500"/>
                <a:buFont typeface="Arial"/>
                <a:buChar char="●"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날씨나 도로 상태 상황 확인이 번거로움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1" name="Google Shape;411;p14"/>
          <p:cNvGrpSpPr/>
          <p:nvPr/>
        </p:nvGrpSpPr>
        <p:grpSpPr>
          <a:xfrm>
            <a:off x="762000" y="4810125"/>
            <a:ext cx="10668000" cy="952500"/>
            <a:chOff x="762000" y="4810125"/>
            <a:chExt cx="10668000" cy="952500"/>
          </a:xfrm>
        </p:grpSpPr>
        <p:sp>
          <p:nvSpPr>
            <p:cNvPr id="412" name="Google Shape;412;p14"/>
            <p:cNvSpPr/>
            <p:nvPr/>
          </p:nvSpPr>
          <p:spPr>
            <a:xfrm>
              <a:off x="762000" y="4810125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4"/>
            <p:cNvSpPr txBox="1"/>
            <p:nvPr/>
          </p:nvSpPr>
          <p:spPr>
            <a:xfrm>
              <a:off x="762000" y="481012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주 3회</a:t>
              </a:r>
              <a:endParaRPr sz="2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이용 빈도</a:t>
              </a:r>
              <a:endParaRPr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4381500" y="4810125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4"/>
            <p:cNvSpPr txBox="1"/>
            <p:nvPr/>
          </p:nvSpPr>
          <p:spPr>
            <a:xfrm>
              <a:off x="4381500" y="481012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10km</a:t>
              </a:r>
              <a:endParaRPr sz="2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평균 이동 거리</a:t>
              </a:r>
              <a:endParaRPr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8001000" y="4810125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4"/>
            <p:cNvSpPr txBox="1"/>
            <p:nvPr/>
          </p:nvSpPr>
          <p:spPr>
            <a:xfrm>
              <a:off x="8001000" y="4810125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도시형</a:t>
              </a:r>
              <a:endParaRPr sz="2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자전거 종류</a:t>
              </a:r>
              <a:endParaRPr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" name="Google Shape;418;p14"/>
          <p:cNvGrpSpPr/>
          <p:nvPr/>
        </p:nvGrpSpPr>
        <p:grpSpPr>
          <a:xfrm>
            <a:off x="762000" y="5905500"/>
            <a:ext cx="10668000" cy="666900"/>
            <a:chOff x="762000" y="5905500"/>
            <a:chExt cx="10668000" cy="666900"/>
          </a:xfrm>
        </p:grpSpPr>
        <p:sp>
          <p:nvSpPr>
            <p:cNvPr id="419" name="Google Shape;419;p14"/>
            <p:cNvSpPr/>
            <p:nvPr/>
          </p:nvSpPr>
          <p:spPr>
            <a:xfrm>
              <a:off x="762000" y="5905500"/>
              <a:ext cx="10668000" cy="666900"/>
            </a:xfrm>
            <a:prstGeom prst="roundRect">
              <a:avLst>
                <a:gd name="adj" fmla="val 17142"/>
              </a:avLst>
            </a:prstGeom>
            <a:solidFill>
              <a:srgbClr val="FEF3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4"/>
            <p:cNvSpPr txBox="1"/>
            <p:nvPr/>
          </p:nvSpPr>
          <p:spPr>
            <a:xfrm>
              <a:off x="952500" y="5905500"/>
              <a:ext cx="1028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i="1">
                  <a:solidFill>
                    <a:srgbClr val="92400E"/>
                  </a:solidFill>
                  <a:latin typeface="Arial"/>
                  <a:ea typeface="Arial"/>
                  <a:cs typeface="Arial"/>
                  <a:sym typeface="Arial"/>
                </a:rPr>
                <a:t>"초보자도 쉽게 따라갈 수 있는 코스를 추천받고, 비슷한 수준의 사람들과 라이딩하며 실력을 키우고 싶어요."</a:t>
              </a:r>
              <a:endParaRPr sz="1500" i="1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f6c72ab93_0_4562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g3df6c72ab93_0_4562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3df6c72ab93_0_4562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4. 필요성 및 기대 효과 도출</a:t>
            </a:r>
            <a:endParaRPr sz="1400" b="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페르소나 3명 요약</a:t>
            </a:r>
            <a:endParaRPr sz="32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df6c72ab93_0_4562"/>
          <p:cNvSpPr/>
          <p:nvPr/>
        </p:nvSpPr>
        <p:spPr>
          <a:xfrm>
            <a:off x="762000" y="1428750"/>
            <a:ext cx="10668000" cy="57150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grpSp>
        <p:nvGrpSpPr>
          <p:cNvPr id="429" name="Google Shape;429;g3df6c72ab93_0_4562"/>
          <p:cNvGrpSpPr/>
          <p:nvPr/>
        </p:nvGrpSpPr>
        <p:grpSpPr>
          <a:xfrm>
            <a:off x="762000" y="1428750"/>
            <a:ext cx="10668000" cy="571500"/>
            <a:chOff x="762000" y="1428750"/>
            <a:chExt cx="10668000" cy="571500"/>
          </a:xfrm>
        </p:grpSpPr>
        <p:sp>
          <p:nvSpPr>
            <p:cNvPr id="430" name="Google Shape;430;g3df6c72ab93_0_4562"/>
            <p:cNvSpPr txBox="1"/>
            <p:nvPr/>
          </p:nvSpPr>
          <p:spPr>
            <a:xfrm>
              <a:off x="762000" y="1428750"/>
              <a:ext cx="2133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구분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df6c72ab93_0_4562"/>
            <p:cNvSpPr txBox="1"/>
            <p:nvPr/>
          </p:nvSpPr>
          <p:spPr>
            <a:xfrm>
              <a:off x="2895600" y="1428750"/>
              <a:ext cx="283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김민준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df6c72ab93_0_4562"/>
            <p:cNvSpPr txBox="1"/>
            <p:nvPr/>
          </p:nvSpPr>
          <p:spPr>
            <a:xfrm>
              <a:off x="5734050" y="1428750"/>
              <a:ext cx="283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이수진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df6c72ab93_0_4562"/>
            <p:cNvSpPr txBox="1"/>
            <p:nvPr/>
          </p:nvSpPr>
          <p:spPr>
            <a:xfrm>
              <a:off x="8572500" y="142875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박지효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4" name="Google Shape;434;g3df6c72ab93_0_4562"/>
          <p:cNvSpPr/>
          <p:nvPr/>
        </p:nvSpPr>
        <p:spPr>
          <a:xfrm>
            <a:off x="762000" y="209550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grpSp>
        <p:nvGrpSpPr>
          <p:cNvPr id="435" name="Google Shape;435;g3df6c72ab93_0_4562"/>
          <p:cNvGrpSpPr/>
          <p:nvPr/>
        </p:nvGrpSpPr>
        <p:grpSpPr>
          <a:xfrm>
            <a:off x="762000" y="2095500"/>
            <a:ext cx="10668000" cy="762000"/>
            <a:chOff x="762000" y="2095500"/>
            <a:chExt cx="10668000" cy="762000"/>
          </a:xfrm>
        </p:grpSpPr>
        <p:sp>
          <p:nvSpPr>
            <p:cNvPr id="436" name="Google Shape;436;g3df6c72ab93_0_4562"/>
            <p:cNvSpPr txBox="1"/>
            <p:nvPr/>
          </p:nvSpPr>
          <p:spPr>
            <a:xfrm>
              <a:off x="762000" y="2095500"/>
              <a:ext cx="2133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유형</a:t>
              </a:r>
              <a:endParaRPr sz="16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df6c72ab93_0_4562"/>
            <p:cNvSpPr txBox="1"/>
            <p:nvPr/>
          </p:nvSpPr>
          <p:spPr>
            <a:xfrm>
              <a:off x="2895600" y="2095500"/>
              <a:ext cx="283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주말 로드 라이더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df6c72ab93_0_4562"/>
            <p:cNvSpPr txBox="1"/>
            <p:nvPr/>
          </p:nvSpPr>
          <p:spPr>
            <a:xfrm>
              <a:off x="5734050" y="2095500"/>
              <a:ext cx="283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동호회 운영자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g3df6c72ab93_0_4562"/>
            <p:cNvSpPr txBox="1"/>
            <p:nvPr/>
          </p:nvSpPr>
          <p:spPr>
            <a:xfrm>
              <a:off x="8572500" y="20955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도시형 생활 라이더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0" name="Google Shape;440;g3df6c72ab93_0_4562"/>
          <p:cNvSpPr/>
          <p:nvPr/>
        </p:nvSpPr>
        <p:spPr>
          <a:xfrm>
            <a:off x="762000" y="295275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grpSp>
        <p:nvGrpSpPr>
          <p:cNvPr id="441" name="Google Shape;441;g3df6c72ab93_0_4562"/>
          <p:cNvGrpSpPr/>
          <p:nvPr/>
        </p:nvGrpSpPr>
        <p:grpSpPr>
          <a:xfrm>
            <a:off x="762000" y="2952750"/>
            <a:ext cx="10668000" cy="762000"/>
            <a:chOff x="762000" y="2952750"/>
            <a:chExt cx="10668000" cy="762000"/>
          </a:xfrm>
        </p:grpSpPr>
        <p:sp>
          <p:nvSpPr>
            <p:cNvPr id="442" name="Google Shape;442;g3df6c72ab93_0_4562"/>
            <p:cNvSpPr txBox="1"/>
            <p:nvPr/>
          </p:nvSpPr>
          <p:spPr>
            <a:xfrm>
              <a:off x="762000" y="2952750"/>
              <a:ext cx="2133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핵심 니즈</a:t>
              </a:r>
              <a:endParaRPr sz="16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3df6c72ab93_0_4562"/>
            <p:cNvSpPr txBox="1"/>
            <p:nvPr/>
          </p:nvSpPr>
          <p:spPr>
            <a:xfrm>
              <a:off x="2895600" y="2952750"/>
              <a:ext cx="283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코스 + 모임 + 기록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3df6c72ab93_0_4562"/>
            <p:cNvSpPr txBox="1"/>
            <p:nvPr/>
          </p:nvSpPr>
          <p:spPr>
            <a:xfrm>
              <a:off x="5734050" y="2952750"/>
              <a:ext cx="283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그룹 관리 + 위치 추적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3df6c72ab93_0_4562"/>
            <p:cNvSpPr txBox="1"/>
            <p:nvPr/>
          </p:nvSpPr>
          <p:spPr>
            <a:xfrm>
              <a:off x="8572500" y="29527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초보 추천 + 커뮤니티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g3df6c72ab93_0_4562"/>
          <p:cNvSpPr/>
          <p:nvPr/>
        </p:nvSpPr>
        <p:spPr>
          <a:xfrm>
            <a:off x="762000" y="3810000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grpSp>
        <p:nvGrpSpPr>
          <p:cNvPr id="447" name="Google Shape;447;g3df6c72ab93_0_4562"/>
          <p:cNvGrpSpPr/>
          <p:nvPr/>
        </p:nvGrpSpPr>
        <p:grpSpPr>
          <a:xfrm>
            <a:off x="762000" y="3810000"/>
            <a:ext cx="10668000" cy="762000"/>
            <a:chOff x="762000" y="3810000"/>
            <a:chExt cx="10668000" cy="762000"/>
          </a:xfrm>
        </p:grpSpPr>
        <p:sp>
          <p:nvSpPr>
            <p:cNvPr id="448" name="Google Shape;448;g3df6c72ab93_0_4562"/>
            <p:cNvSpPr txBox="1"/>
            <p:nvPr/>
          </p:nvSpPr>
          <p:spPr>
            <a:xfrm>
              <a:off x="762000" y="3810000"/>
              <a:ext cx="2133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앱 사용 이유</a:t>
              </a:r>
              <a:endParaRPr sz="16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df6c72ab93_0_4562"/>
            <p:cNvSpPr txBox="1"/>
            <p:nvPr/>
          </p:nvSpPr>
          <p:spPr>
            <a:xfrm>
              <a:off x="2895600" y="3810000"/>
              <a:ext cx="283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정보 통합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df6c72ab93_0_4562"/>
            <p:cNvSpPr txBox="1"/>
            <p:nvPr/>
          </p:nvSpPr>
          <p:spPr>
            <a:xfrm>
              <a:off x="5734050" y="3810000"/>
              <a:ext cx="283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관리 편의성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3df6c72ab93_0_4562"/>
            <p:cNvSpPr txBox="1"/>
            <p:nvPr/>
          </p:nvSpPr>
          <p:spPr>
            <a:xfrm>
              <a:off x="8572500" y="38100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동기부여 + 정보</a:t>
              </a:r>
              <a:endParaRPr sz="1500" b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5"/>
          <p:cNvSpPr txBox="1"/>
          <p:nvPr/>
        </p:nvSpPr>
        <p:spPr>
          <a:xfrm>
            <a:off x="762000" y="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5. 서버 및 개발 환경 정의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개발 스택 및 도구</a:t>
            </a:r>
            <a:endParaRPr sz="32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0" name="Google Shape;460;p15"/>
          <p:cNvGrpSpPr/>
          <p:nvPr/>
        </p:nvGrpSpPr>
        <p:grpSpPr>
          <a:xfrm>
            <a:off x="762000" y="1333500"/>
            <a:ext cx="3301500" cy="4572000"/>
            <a:chOff x="762000" y="1333500"/>
            <a:chExt cx="3301500" cy="4572000"/>
          </a:xfrm>
        </p:grpSpPr>
        <p:sp>
          <p:nvSpPr>
            <p:cNvPr id="461" name="Google Shape;461;p15"/>
            <p:cNvSpPr/>
            <p:nvPr/>
          </p:nvSpPr>
          <p:spPr>
            <a:xfrm>
              <a:off x="762000" y="1333500"/>
              <a:ext cx="3301500" cy="4572000"/>
            </a:xfrm>
            <a:prstGeom prst="roundRect">
              <a:avLst>
                <a:gd name="adj" fmla="val 461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762000" y="1333500"/>
              <a:ext cx="3301500" cy="571500"/>
            </a:xfrm>
            <a:prstGeom prst="roundRect">
              <a:avLst>
                <a:gd name="adj" fmla="val 26666"/>
              </a:avLst>
            </a:prstGeom>
            <a:solidFill>
              <a:srgbClr val="4EA72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762000" y="1619250"/>
              <a:ext cx="3301500" cy="285900"/>
            </a:xfrm>
            <a:prstGeom prst="rect">
              <a:avLst/>
            </a:prstGeom>
            <a:solidFill>
              <a:srgbClr val="4EA72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5"/>
            <p:cNvSpPr txBox="1"/>
            <p:nvPr/>
          </p:nvSpPr>
          <p:spPr>
            <a:xfrm>
              <a:off x="762000" y="1333500"/>
              <a:ext cx="330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클라이언트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5" name="Google Shape;465;p15"/>
            <p:cNvPicPr preferRelativeResize="0"/>
            <p:nvPr/>
          </p:nvPicPr>
          <p:blipFill rotWithShape="1">
            <a:blip r:embed="rId3">
              <a:alphaModFix/>
            </a:blip>
            <a:srcRect t="338" b="338"/>
            <a:stretch/>
          </p:blipFill>
          <p:spPr>
            <a:xfrm>
              <a:off x="1841183" y="2286000"/>
              <a:ext cx="11430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31683" y="285750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7" name="Google Shape;467;p15"/>
            <p:cNvSpPr txBox="1"/>
            <p:nvPr/>
          </p:nvSpPr>
          <p:spPr>
            <a:xfrm>
              <a:off x="1047750" y="4000500"/>
              <a:ext cx="2730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VS Code &amp; React</a:t>
              </a:r>
              <a:endParaRPr sz="1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컴포넌트 기반의 UI 개발 환경 구축 및 효율적인 코드 편집기 활용</a:t>
              </a:r>
              <a:endParaRPr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" name="Google Shape;468;p15"/>
          <p:cNvGrpSpPr/>
          <p:nvPr/>
        </p:nvGrpSpPr>
        <p:grpSpPr>
          <a:xfrm>
            <a:off x="4444365" y="1333500"/>
            <a:ext cx="3301500" cy="4572000"/>
            <a:chOff x="4444365" y="1333500"/>
            <a:chExt cx="3301500" cy="4572000"/>
          </a:xfrm>
        </p:grpSpPr>
        <p:sp>
          <p:nvSpPr>
            <p:cNvPr id="469" name="Google Shape;469;p15"/>
            <p:cNvSpPr/>
            <p:nvPr/>
          </p:nvSpPr>
          <p:spPr>
            <a:xfrm>
              <a:off x="4444365" y="1333500"/>
              <a:ext cx="3301500" cy="4572000"/>
            </a:xfrm>
            <a:prstGeom prst="roundRect">
              <a:avLst>
                <a:gd name="adj" fmla="val 461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4444365" y="1333500"/>
              <a:ext cx="3301500" cy="571500"/>
            </a:xfrm>
            <a:prstGeom prst="roundRect">
              <a:avLst>
                <a:gd name="adj" fmla="val 26666"/>
              </a:avLst>
            </a:prstGeom>
            <a:solidFill>
              <a:srgbClr val="F2A98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4444365" y="1619250"/>
              <a:ext cx="3301500" cy="285900"/>
            </a:xfrm>
            <a:prstGeom prst="rect">
              <a:avLst/>
            </a:prstGeom>
            <a:solidFill>
              <a:srgbClr val="F2A98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5"/>
            <p:cNvSpPr txBox="1"/>
            <p:nvPr/>
          </p:nvSpPr>
          <p:spPr>
            <a:xfrm>
              <a:off x="4444365" y="1333500"/>
              <a:ext cx="330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웹 서버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3" name="Google Shape;473;p15"/>
            <p:cNvPicPr preferRelativeResize="0"/>
            <p:nvPr/>
          </p:nvPicPr>
          <p:blipFill rotWithShape="1">
            <a:blip r:embed="rId5">
              <a:alphaModFix/>
            </a:blip>
            <a:srcRect l="140" r="150"/>
            <a:stretch/>
          </p:blipFill>
          <p:spPr>
            <a:xfrm>
              <a:off x="5429250" y="2190750"/>
              <a:ext cx="1333500" cy="74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4" name="Google Shape;474;p15"/>
            <p:cNvPicPr preferRelativeResize="0"/>
            <p:nvPr/>
          </p:nvPicPr>
          <p:blipFill rotWithShape="1">
            <a:blip r:embed="rId6">
              <a:alphaModFix/>
            </a:blip>
            <a:srcRect l="60" r="70"/>
            <a:stretch/>
          </p:blipFill>
          <p:spPr>
            <a:xfrm>
              <a:off x="5619750" y="2952750"/>
              <a:ext cx="952500" cy="7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15"/>
            <p:cNvSpPr txBox="1"/>
            <p:nvPr/>
          </p:nvSpPr>
          <p:spPr>
            <a:xfrm>
              <a:off x="4730115" y="4000500"/>
              <a:ext cx="2730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Eclipse &amp; Spring Boot</a:t>
              </a:r>
              <a:endParaRPr sz="1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강력한 백엔드 프레임워크와 IDE를 통한 안정적인 서비스 로직 구현</a:t>
              </a:r>
              <a:endParaRPr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p15"/>
          <p:cNvGrpSpPr/>
          <p:nvPr/>
        </p:nvGrpSpPr>
        <p:grpSpPr>
          <a:xfrm>
            <a:off x="8127683" y="1333500"/>
            <a:ext cx="3301500" cy="4572000"/>
            <a:chOff x="8127683" y="1333500"/>
            <a:chExt cx="3301500" cy="4572000"/>
          </a:xfrm>
        </p:grpSpPr>
        <p:sp>
          <p:nvSpPr>
            <p:cNvPr id="477" name="Google Shape;477;p15"/>
            <p:cNvSpPr/>
            <p:nvPr/>
          </p:nvSpPr>
          <p:spPr>
            <a:xfrm>
              <a:off x="8127683" y="1333500"/>
              <a:ext cx="3301500" cy="4572000"/>
            </a:xfrm>
            <a:prstGeom prst="roundRect">
              <a:avLst>
                <a:gd name="adj" fmla="val 461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8127683" y="1333500"/>
              <a:ext cx="3301500" cy="571500"/>
            </a:xfrm>
            <a:prstGeom prst="roundRect">
              <a:avLst>
                <a:gd name="adj" fmla="val 26666"/>
              </a:avLst>
            </a:prstGeom>
            <a:solidFill>
              <a:srgbClr val="15608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8127683" y="1619250"/>
              <a:ext cx="3301500" cy="285900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5"/>
            <p:cNvSpPr txBox="1"/>
            <p:nvPr/>
          </p:nvSpPr>
          <p:spPr>
            <a:xfrm>
              <a:off x="8127683" y="1333500"/>
              <a:ext cx="330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데이터베이스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1" name="Google Shape;481;p1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11615" y="2190750"/>
              <a:ext cx="1333500" cy="66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15"/>
            <p:cNvPicPr preferRelativeResize="0"/>
            <p:nvPr/>
          </p:nvPicPr>
          <p:blipFill rotWithShape="1">
            <a:blip r:embed="rId8">
              <a:alphaModFix/>
            </a:blip>
            <a:srcRect t="328" b="318"/>
            <a:stretch/>
          </p:blipFill>
          <p:spPr>
            <a:xfrm>
              <a:off x="9397365" y="2952750"/>
              <a:ext cx="762000" cy="78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15"/>
            <p:cNvSpPr txBox="1"/>
            <p:nvPr/>
          </p:nvSpPr>
          <p:spPr>
            <a:xfrm>
              <a:off x="8413433" y="4000500"/>
              <a:ext cx="2730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DBeaver &amp; PostgreSQL</a:t>
              </a:r>
              <a:endParaRPr sz="14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오픈 소스 관계형 데이터베이스와 직관적인 관리 도구 활용</a:t>
              </a:r>
              <a:endParaRPr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6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762000" y="9144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6"/>
          <p:cNvSpPr txBox="1"/>
          <p:nvPr/>
        </p:nvSpPr>
        <p:spPr>
          <a:xfrm>
            <a:off x="762000" y="0"/>
            <a:ext cx="10668000" cy="70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5. 서버 및 개발 환경 정의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데이터 흐름 및 아키텍처</a:t>
            </a:r>
            <a:endParaRPr sz="32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1" name="Google Shape;491;p16"/>
          <p:cNvGrpSpPr/>
          <p:nvPr/>
        </p:nvGrpSpPr>
        <p:grpSpPr>
          <a:xfrm>
            <a:off x="4572000" y="1333500"/>
            <a:ext cx="3048000" cy="952500"/>
            <a:chOff x="4572000" y="1333500"/>
            <a:chExt cx="3048000" cy="952500"/>
          </a:xfrm>
        </p:grpSpPr>
        <p:sp>
          <p:nvSpPr>
            <p:cNvPr id="492" name="Google Shape;492;p16"/>
            <p:cNvSpPr/>
            <p:nvPr/>
          </p:nvSpPr>
          <p:spPr>
            <a:xfrm>
              <a:off x="4572000" y="1333500"/>
              <a:ext cx="3048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493" name="Google Shape;493;p16"/>
            <p:cNvSpPr txBox="1"/>
            <p:nvPr/>
          </p:nvSpPr>
          <p:spPr>
            <a:xfrm>
              <a:off x="4572000" y="13335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클라이언트</a:t>
              </a:r>
              <a:endParaRPr sz="20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React Native (모바일) + Web (React)</a:t>
              </a:r>
              <a:endParaRPr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94" name="Google Shape;49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6475" y="2286000"/>
            <a:ext cx="1920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8375" y="2524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6" name="Google Shape;496;p16"/>
          <p:cNvGrpSpPr/>
          <p:nvPr/>
        </p:nvGrpSpPr>
        <p:grpSpPr>
          <a:xfrm>
            <a:off x="4572000" y="2619375"/>
            <a:ext cx="3048000" cy="762000"/>
            <a:chOff x="4572000" y="2619375"/>
            <a:chExt cx="3048000" cy="762000"/>
          </a:xfrm>
        </p:grpSpPr>
        <p:sp>
          <p:nvSpPr>
            <p:cNvPr id="497" name="Google Shape;497;p16"/>
            <p:cNvSpPr/>
            <p:nvPr/>
          </p:nvSpPr>
          <p:spPr>
            <a:xfrm>
              <a:off x="4572000" y="2619375"/>
              <a:ext cx="3048000" cy="762000"/>
            </a:xfrm>
            <a:prstGeom prst="roundRect">
              <a:avLst>
                <a:gd name="adj" fmla="val 15000"/>
              </a:avLst>
            </a:prstGeom>
            <a:solidFill>
              <a:srgbClr val="F1F5F9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498" name="Google Shape;498;p16"/>
            <p:cNvSpPr txBox="1"/>
            <p:nvPr/>
          </p:nvSpPr>
          <p:spPr>
            <a:xfrm>
              <a:off x="4572000" y="261937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API Gateway</a:t>
              </a:r>
              <a:endParaRPr sz="18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(Spring Boot)</a:t>
              </a:r>
              <a:endParaRPr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99" name="Google Shape;499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28975" y="2990850"/>
            <a:ext cx="1343100" cy="5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90875" y="3524250"/>
            <a:ext cx="95400" cy="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86475" y="3381375"/>
            <a:ext cx="19200" cy="2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8375" y="3571875"/>
            <a:ext cx="95400" cy="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0" y="2990850"/>
            <a:ext cx="1343100" cy="5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5875" y="3524250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5" name="Google Shape;505;p16"/>
          <p:cNvGrpSpPr/>
          <p:nvPr/>
        </p:nvGrpSpPr>
        <p:grpSpPr>
          <a:xfrm>
            <a:off x="1714500" y="3619500"/>
            <a:ext cx="2667000" cy="952500"/>
            <a:chOff x="1714500" y="3619500"/>
            <a:chExt cx="2667000" cy="952500"/>
          </a:xfrm>
        </p:grpSpPr>
        <p:sp>
          <p:nvSpPr>
            <p:cNvPr id="506" name="Google Shape;506;p16"/>
            <p:cNvSpPr/>
            <p:nvPr/>
          </p:nvSpPr>
          <p:spPr>
            <a:xfrm>
              <a:off x="1714500" y="3619500"/>
              <a:ext cx="2667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07" name="Google Shape;507;p16"/>
            <p:cNvSpPr txBox="1"/>
            <p:nvPr/>
          </p:nvSpPr>
          <p:spPr>
            <a:xfrm>
              <a:off x="1714500" y="3619500"/>
              <a:ext cx="266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7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인증 서비스</a:t>
              </a:r>
              <a:endParaRPr sz="17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(JWT)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" name="Google Shape;508;p16"/>
          <p:cNvGrpSpPr/>
          <p:nvPr/>
        </p:nvGrpSpPr>
        <p:grpSpPr>
          <a:xfrm>
            <a:off x="4762500" y="3667125"/>
            <a:ext cx="2667000" cy="952500"/>
            <a:chOff x="4762500" y="3667125"/>
            <a:chExt cx="2667000" cy="952500"/>
          </a:xfrm>
        </p:grpSpPr>
        <p:sp>
          <p:nvSpPr>
            <p:cNvPr id="509" name="Google Shape;509;p16"/>
            <p:cNvSpPr/>
            <p:nvPr/>
          </p:nvSpPr>
          <p:spPr>
            <a:xfrm>
              <a:off x="4762500" y="3667125"/>
              <a:ext cx="2667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10" name="Google Shape;510;p16"/>
            <p:cNvSpPr txBox="1"/>
            <p:nvPr/>
          </p:nvSpPr>
          <p:spPr>
            <a:xfrm>
              <a:off x="4762500" y="3667125"/>
              <a:ext cx="266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700" b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비즈니스 서비스</a:t>
              </a:r>
              <a:endParaRPr sz="1700" b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게시글, 경로, 그룹</a:t>
              </a:r>
              <a:endParaRPr sz="13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1" name="Google Shape;511;p16"/>
          <p:cNvGrpSpPr/>
          <p:nvPr/>
        </p:nvGrpSpPr>
        <p:grpSpPr>
          <a:xfrm>
            <a:off x="7810500" y="3619500"/>
            <a:ext cx="2667000" cy="952500"/>
            <a:chOff x="7810500" y="3619500"/>
            <a:chExt cx="2667000" cy="952500"/>
          </a:xfrm>
        </p:grpSpPr>
        <p:sp>
          <p:nvSpPr>
            <p:cNvPr id="512" name="Google Shape;512;p16"/>
            <p:cNvSpPr/>
            <p:nvPr/>
          </p:nvSpPr>
          <p:spPr>
            <a:xfrm>
              <a:off x="7810500" y="3619500"/>
              <a:ext cx="2667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13" name="Google Shape;513;p16"/>
            <p:cNvSpPr txBox="1"/>
            <p:nvPr/>
          </p:nvSpPr>
          <p:spPr>
            <a:xfrm>
              <a:off x="7810500" y="3619500"/>
              <a:ext cx="266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7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실시간 서비스</a:t>
              </a:r>
              <a:endParaRPr sz="17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(WebSocket)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4" name="Google Shape;514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86475" y="4619625"/>
            <a:ext cx="19200" cy="3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8375" y="4905375"/>
            <a:ext cx="95400" cy="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34475" y="4572000"/>
            <a:ext cx="96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96375" y="4905375"/>
            <a:ext cx="477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8" name="Google Shape;518;p16"/>
          <p:cNvGrpSpPr/>
          <p:nvPr/>
        </p:nvGrpSpPr>
        <p:grpSpPr>
          <a:xfrm>
            <a:off x="4191000" y="5000625"/>
            <a:ext cx="3810000" cy="1524000"/>
            <a:chOff x="4191000" y="5000625"/>
            <a:chExt cx="3810000" cy="1524000"/>
          </a:xfrm>
        </p:grpSpPr>
        <p:sp>
          <p:nvSpPr>
            <p:cNvPr id="519" name="Google Shape;519;p16"/>
            <p:cNvSpPr/>
            <p:nvPr/>
          </p:nvSpPr>
          <p:spPr>
            <a:xfrm>
              <a:off x="4191000" y="5000625"/>
              <a:ext cx="3810000" cy="1524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20" name="Google Shape;520;p16"/>
            <p:cNvSpPr txBox="1"/>
            <p:nvPr/>
          </p:nvSpPr>
          <p:spPr>
            <a:xfrm>
              <a:off x="4191000" y="5000625"/>
              <a:ext cx="3810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1F5F9"/>
                  </a:solidFill>
                  <a:latin typeface="Arial"/>
                  <a:ea typeface="Arial"/>
                  <a:cs typeface="Arial"/>
                  <a:sym typeface="Arial"/>
                </a:rPr>
                <a:t>데이터베이스</a:t>
              </a:r>
              <a:endParaRPr sz="1800" b="1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-KR" sz="1500" b="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PostgreSQL + PostGIS</a:t>
              </a:r>
              <a:endParaRPr sz="1500" b="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-KR" sz="13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사용자, 경로, 게시글 관리</a:t>
              </a:r>
              <a:endParaRPr sz="13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공간 데이터(Geometry) 처리</a:t>
              </a:r>
              <a:endParaRPr sz="13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" name="Google Shape;521;p16"/>
          <p:cNvGrpSpPr/>
          <p:nvPr/>
        </p:nvGrpSpPr>
        <p:grpSpPr>
          <a:xfrm>
            <a:off x="8096250" y="5000625"/>
            <a:ext cx="2095500" cy="762000"/>
            <a:chOff x="8096250" y="5000625"/>
            <a:chExt cx="2095500" cy="762000"/>
          </a:xfrm>
        </p:grpSpPr>
        <p:sp>
          <p:nvSpPr>
            <p:cNvPr id="522" name="Google Shape;522;p16"/>
            <p:cNvSpPr/>
            <p:nvPr/>
          </p:nvSpPr>
          <p:spPr>
            <a:xfrm>
              <a:off x="8096250" y="5000625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523" name="Google Shape;523;p16"/>
            <p:cNvSpPr txBox="1"/>
            <p:nvPr/>
          </p:nvSpPr>
          <p:spPr>
            <a:xfrm>
              <a:off x="8096250" y="5000625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3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HTTPS / WebSocket</a:t>
              </a:r>
              <a:endParaRPr sz="130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실시간 위치, 채팅, 매칭</a:t>
              </a:r>
              <a:endPara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g3df6c72ab93_0_60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5425" y="1173125"/>
            <a:ext cx="9741150" cy="54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df6c72ab93_0_6099"/>
          <p:cNvSpPr/>
          <p:nvPr/>
        </p:nvSpPr>
        <p:spPr>
          <a:xfrm>
            <a:off x="475888" y="1084025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g3df6c72ab93_0_6099"/>
          <p:cNvSpPr txBox="1"/>
          <p:nvPr/>
        </p:nvSpPr>
        <p:spPr>
          <a:xfrm>
            <a:off x="475888" y="169625"/>
            <a:ext cx="10668000" cy="70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5. 서버 및 개발 환경 정의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개인 라이더 위치 표시</a:t>
            </a:r>
            <a:endParaRPr sz="32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8928" y="1110242"/>
            <a:ext cx="9654127" cy="5774208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8"/>
          <p:cNvSpPr/>
          <p:nvPr/>
        </p:nvSpPr>
        <p:spPr>
          <a:xfrm>
            <a:off x="762000" y="111025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8"/>
          <p:cNvSpPr txBox="1"/>
          <p:nvPr/>
        </p:nvSpPr>
        <p:spPr>
          <a:xfrm>
            <a:off x="762000" y="195850"/>
            <a:ext cx="10668000" cy="70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5. 서버 및 개발 환경 정의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그룹 라이더 실시간 위치 표시</a:t>
            </a:r>
            <a:endParaRPr sz="32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df6c72ab93_0_66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g3df6c72ab93_0_6608"/>
          <p:cNvSpPr/>
          <p:nvPr/>
        </p:nvSpPr>
        <p:spPr>
          <a:xfrm>
            <a:off x="762000" y="11049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g3df6c72ab93_0_6608"/>
          <p:cNvSpPr txBox="1"/>
          <p:nvPr/>
        </p:nvSpPr>
        <p:spPr>
          <a:xfrm>
            <a:off x="762000" y="1905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6. 구체적인 업무 분장표</a:t>
            </a:r>
            <a:endParaRPr sz="1400" b="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팀원별 역할 및 책임 범위</a:t>
            </a:r>
            <a:endParaRPr sz="32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g3df6c72ab93_0_6608"/>
          <p:cNvGrpSpPr/>
          <p:nvPr/>
        </p:nvGrpSpPr>
        <p:grpSpPr>
          <a:xfrm>
            <a:off x="762000" y="1714500"/>
            <a:ext cx="10668000" cy="3619575"/>
            <a:chOff x="0" y="0"/>
            <a:chExt cx="10668000" cy="3619575"/>
          </a:xfrm>
        </p:grpSpPr>
        <p:sp>
          <p:nvSpPr>
            <p:cNvPr id="550" name="Google Shape;550;g3df6c72ab93_0_6608"/>
            <p:cNvSpPr/>
            <p:nvPr/>
          </p:nvSpPr>
          <p:spPr>
            <a:xfrm>
              <a:off x="0" y="0"/>
              <a:ext cx="2667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g3df6c72ab93_0_6608"/>
            <p:cNvSpPr/>
            <p:nvPr/>
          </p:nvSpPr>
          <p:spPr>
            <a:xfrm>
              <a:off x="2667000" y="0"/>
              <a:ext cx="2667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g3df6c72ab93_0_6608"/>
            <p:cNvSpPr/>
            <p:nvPr/>
          </p:nvSpPr>
          <p:spPr>
            <a:xfrm>
              <a:off x="5334000" y="0"/>
              <a:ext cx="2667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g3df6c72ab93_0_6608"/>
            <p:cNvSpPr/>
            <p:nvPr/>
          </p:nvSpPr>
          <p:spPr>
            <a:xfrm>
              <a:off x="8001000" y="0"/>
              <a:ext cx="2667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g3df6c72ab93_0_6608"/>
            <p:cNvSpPr txBox="1"/>
            <p:nvPr/>
          </p:nvSpPr>
          <p:spPr>
            <a:xfrm>
              <a:off x="0" y="0"/>
              <a:ext cx="266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성명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3df6c72ab93_0_6608"/>
            <p:cNvSpPr txBox="1"/>
            <p:nvPr/>
          </p:nvSpPr>
          <p:spPr>
            <a:xfrm>
              <a:off x="2667000" y="0"/>
              <a:ext cx="266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프론트 엔드(React)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3df6c72ab93_0_6608"/>
            <p:cNvSpPr txBox="1"/>
            <p:nvPr/>
          </p:nvSpPr>
          <p:spPr>
            <a:xfrm>
              <a:off x="5334000" y="0"/>
              <a:ext cx="266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백 엔드(서버/DB)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3df6c72ab93_0_6608"/>
            <p:cNvSpPr txBox="1"/>
            <p:nvPr/>
          </p:nvSpPr>
          <p:spPr>
            <a:xfrm>
              <a:off x="8001000" y="0"/>
              <a:ext cx="266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QA / 테스팅</a:t>
              </a:r>
              <a:endPara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8" name="Google Shape;558;g3df6c72ab93_0_6608"/>
            <p:cNvGrpSpPr/>
            <p:nvPr/>
          </p:nvGrpSpPr>
          <p:grpSpPr>
            <a:xfrm>
              <a:off x="0" y="762000"/>
              <a:ext cx="10668000" cy="952575"/>
              <a:chOff x="0" y="0"/>
              <a:chExt cx="10668000" cy="952575"/>
            </a:xfrm>
          </p:grpSpPr>
          <p:sp>
            <p:nvSpPr>
              <p:cNvPr id="559" name="Google Shape;559;g3df6c72ab93_0_6608"/>
              <p:cNvSpPr/>
              <p:nvPr/>
            </p:nvSpPr>
            <p:spPr>
              <a:xfrm>
                <a:off x="0" y="0"/>
                <a:ext cx="10668000" cy="952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g3df6c72ab93_0_6608"/>
              <p:cNvSpPr/>
              <p:nvPr/>
            </p:nvSpPr>
            <p:spPr>
              <a:xfrm>
                <a:off x="0" y="942975"/>
                <a:ext cx="10668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g3df6c72ab93_0_6608"/>
              <p:cNvSpPr txBox="1"/>
              <p:nvPr/>
            </p:nvSpPr>
            <p:spPr>
              <a:xfrm>
                <a:off x="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8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김호성</a:t>
                </a:r>
                <a:endParaRPr sz="18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g3df6c72ab93_0_6608"/>
              <p:cNvSpPr txBox="1"/>
              <p:nvPr/>
            </p:nvSpPr>
            <p:spPr>
              <a:xfrm>
                <a:off x="266700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800" b="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 sz="18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g3df6c72ab93_0_6608"/>
              <p:cNvSpPr txBox="1"/>
              <p:nvPr/>
            </p:nvSpPr>
            <p:spPr>
              <a:xfrm>
                <a:off x="533400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400" b="0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●</a:t>
                </a:r>
                <a:endParaRPr sz="2400" b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g3df6c72ab93_0_6608"/>
              <p:cNvSpPr txBox="1"/>
              <p:nvPr/>
            </p:nvSpPr>
            <p:spPr>
              <a:xfrm>
                <a:off x="800100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400" b="0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●</a:t>
                </a:r>
                <a:endParaRPr sz="2400" b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5" name="Google Shape;565;g3df6c72ab93_0_6608"/>
            <p:cNvGrpSpPr/>
            <p:nvPr/>
          </p:nvGrpSpPr>
          <p:grpSpPr>
            <a:xfrm>
              <a:off x="0" y="1714500"/>
              <a:ext cx="10668000" cy="952575"/>
              <a:chOff x="0" y="0"/>
              <a:chExt cx="10668000" cy="952575"/>
            </a:xfrm>
          </p:grpSpPr>
          <p:sp>
            <p:nvSpPr>
              <p:cNvPr id="566" name="Google Shape;566;g3df6c72ab93_0_6608"/>
              <p:cNvSpPr/>
              <p:nvPr/>
            </p:nvSpPr>
            <p:spPr>
              <a:xfrm>
                <a:off x="0" y="0"/>
                <a:ext cx="10668000" cy="95250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g3df6c72ab93_0_6608"/>
              <p:cNvSpPr/>
              <p:nvPr/>
            </p:nvSpPr>
            <p:spPr>
              <a:xfrm>
                <a:off x="0" y="942975"/>
                <a:ext cx="10668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g3df6c72ab93_0_6608"/>
              <p:cNvSpPr txBox="1"/>
              <p:nvPr/>
            </p:nvSpPr>
            <p:spPr>
              <a:xfrm>
                <a:off x="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8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임연수</a:t>
                </a:r>
                <a:endParaRPr sz="18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g3df6c72ab93_0_6608"/>
              <p:cNvSpPr txBox="1"/>
              <p:nvPr/>
            </p:nvSpPr>
            <p:spPr>
              <a:xfrm>
                <a:off x="266700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400" b="0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●</a:t>
                </a:r>
                <a:endParaRPr sz="2400" b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g3df6c72ab93_0_6608"/>
              <p:cNvSpPr txBox="1"/>
              <p:nvPr/>
            </p:nvSpPr>
            <p:spPr>
              <a:xfrm>
                <a:off x="533400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400" b="0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●</a:t>
                </a:r>
                <a:endParaRPr sz="2400" b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g3df6c72ab93_0_6608"/>
              <p:cNvSpPr txBox="1"/>
              <p:nvPr/>
            </p:nvSpPr>
            <p:spPr>
              <a:xfrm>
                <a:off x="800100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400" b="0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●</a:t>
                </a:r>
                <a:endParaRPr sz="2400" b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2" name="Google Shape;572;g3df6c72ab93_0_6608"/>
            <p:cNvGrpSpPr/>
            <p:nvPr/>
          </p:nvGrpSpPr>
          <p:grpSpPr>
            <a:xfrm>
              <a:off x="0" y="2667000"/>
              <a:ext cx="10668000" cy="952575"/>
              <a:chOff x="0" y="0"/>
              <a:chExt cx="10668000" cy="952575"/>
            </a:xfrm>
          </p:grpSpPr>
          <p:sp>
            <p:nvSpPr>
              <p:cNvPr id="573" name="Google Shape;573;g3df6c72ab93_0_6608"/>
              <p:cNvSpPr/>
              <p:nvPr/>
            </p:nvSpPr>
            <p:spPr>
              <a:xfrm>
                <a:off x="0" y="0"/>
                <a:ext cx="10668000" cy="952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g3df6c72ab93_0_6608"/>
              <p:cNvSpPr/>
              <p:nvPr/>
            </p:nvSpPr>
            <p:spPr>
              <a:xfrm>
                <a:off x="0" y="942975"/>
                <a:ext cx="10668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g3df6c72ab93_0_6608"/>
              <p:cNvSpPr txBox="1"/>
              <p:nvPr/>
            </p:nvSpPr>
            <p:spPr>
              <a:xfrm>
                <a:off x="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800" b="1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신재원</a:t>
                </a:r>
                <a:endParaRPr sz="1800" b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g3df6c72ab93_0_6608"/>
              <p:cNvSpPr txBox="1"/>
              <p:nvPr/>
            </p:nvSpPr>
            <p:spPr>
              <a:xfrm>
                <a:off x="266700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800" b="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 sz="1800" b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g3df6c72ab93_0_6608"/>
              <p:cNvSpPr txBox="1"/>
              <p:nvPr/>
            </p:nvSpPr>
            <p:spPr>
              <a:xfrm>
                <a:off x="533400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400" b="0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●</a:t>
                </a:r>
                <a:endParaRPr sz="2400" b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g3df6c72ab93_0_6608"/>
              <p:cNvSpPr txBox="1"/>
              <p:nvPr/>
            </p:nvSpPr>
            <p:spPr>
              <a:xfrm>
                <a:off x="8001000" y="0"/>
                <a:ext cx="2667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400" b="0">
                    <a:solidFill>
                      <a:srgbClr val="3B82F6"/>
                    </a:solidFill>
                    <a:latin typeface="Arial"/>
                    <a:ea typeface="Arial"/>
                    <a:cs typeface="Arial"/>
                    <a:sym typeface="Arial"/>
                  </a:rPr>
                  <a:t>●</a:t>
                </a:r>
                <a:endParaRPr sz="2400" b="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2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f6c72ab93_0_6727"/>
          <p:cNvSpPr/>
          <p:nvPr/>
        </p:nvSpPr>
        <p:spPr>
          <a:xfrm>
            <a:off x="762000" y="1104900"/>
            <a:ext cx="10668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g3df6c72ab93_0_6727"/>
          <p:cNvSpPr txBox="1"/>
          <p:nvPr/>
        </p:nvSpPr>
        <p:spPr>
          <a:xfrm>
            <a:off x="762000" y="3810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Presentation Closing</a:t>
            </a:r>
            <a:endParaRPr sz="1400" b="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df6c72ab93_0_6727"/>
          <p:cNvSpPr txBox="1">
            <a:spLocks noGrp="1"/>
          </p:cNvSpPr>
          <p:nvPr>
            <p:ph type="title"/>
          </p:nvPr>
        </p:nvSpPr>
        <p:spPr>
          <a:xfrm>
            <a:off x="762000" y="1524000"/>
            <a:ext cx="106680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sz="80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ko-KR" sz="2400" b="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Thank You for Your Attention</a:t>
            </a:r>
            <a:endParaRPr sz="2400" b="0">
              <a:solidFill>
                <a:srgbClr val="3B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B3C779-3321-1075-44D6-B6460D112F63}"/>
              </a:ext>
            </a:extLst>
          </p:cNvPr>
          <p:cNvSpPr txBox="1"/>
          <p:nvPr/>
        </p:nvSpPr>
        <p:spPr>
          <a:xfrm>
            <a:off x="438311" y="5892225"/>
            <a:ext cx="6957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ghgh1223@yuhan.ac.kr</a:t>
            </a:r>
            <a:endParaRPr lang="ko-KR" alt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2084</Words>
  <Application>Microsoft Office PowerPoint</Application>
  <PresentationFormat>와이드스크린</PresentationFormat>
  <Paragraphs>365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Material Icons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기능 요구상황</vt:lpstr>
      <vt:lpstr>3. 핵심 내용 및 기능요구사항 기술 게시글 생성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 필요성 및 기대 효과 도출 페르소나 3명 요약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 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 호성</dc:creator>
  <cp:lastModifiedBy>김호성</cp:lastModifiedBy>
  <cp:revision>4</cp:revision>
  <dcterms:created xsi:type="dcterms:W3CDTF">2026-05-05T00:57:39Z</dcterms:created>
  <dcterms:modified xsi:type="dcterms:W3CDTF">2026-06-30T07:14:01Z</dcterms:modified>
</cp:coreProperties>
</file>